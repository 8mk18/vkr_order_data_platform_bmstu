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embeddedFontLst>
    <p:embeddedFont>
      <p:font typeface="Open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47">
          <p15:clr>
            <a:srgbClr val="000000"/>
          </p15:clr>
        </p15:guide>
        <p15:guide id="2" orient="horz" pos="1344">
          <p15:clr>
            <a:srgbClr val="A4A3A4"/>
          </p15:clr>
        </p15:guide>
        <p15:guide id="3" orient="horz" pos="9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7"/>
        <p:guide pos="1344" orient="horz"/>
        <p:guide pos="981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OpenSans-regular.fntdata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OpenSans-italic.fntdata"/><Relationship Id="rId25" Type="http://schemas.openxmlformats.org/officeDocument/2006/relationships/font" Target="fonts/OpenSans-bold.fntdata"/><Relationship Id="rId27" Type="http://schemas.openxmlformats.org/officeDocument/2006/relationships/font" Target="fonts/Open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-RU" sz="1100"/>
              <a:t>Место для скриншота задачи data_quality с зелёным статусом — добавить после запуска Docker.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showMasterSp="0" type="title">
  <p:cSld name="TITLE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8845" l="0" r="0" t="1627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2"/>
          <p:cNvGrpSpPr/>
          <p:nvPr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12" name="Google Shape;12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3;p2"/>
            <p:cNvSpPr/>
            <p:nvPr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4" name="Google Shape;1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57539" y="611835"/>
            <a:ext cx="2361600" cy="72195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"/>
          <p:cNvSpPr txBox="1"/>
          <p:nvPr>
            <p:ph type="ctrTitle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b="0" i="0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, подзаголовок и объект">
  <p:cSld name="Заголовок, подзаголовок и объект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idx="1" type="body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indent="-3302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2" type="body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дзаголовок и Сравнение">
  <p:cSld name="Подзаголовок и Сравнение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indent="-3302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indent="-3302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3" type="body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крывающий слайд пустой">
  <p:cSld name="Закрывающий слайд пустой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6"/>
          <p:cNvPicPr preferRelativeResize="0"/>
          <p:nvPr/>
        </p:nvPicPr>
        <p:blipFill rotWithShape="1">
          <a:blip r:embed="rId2">
            <a:alphaModFix/>
          </a:blip>
          <a:srcRect b="8845" l="0" r="0" t="16270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75410" y="2096584"/>
            <a:ext cx="1332000" cy="133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78526" y="2042584"/>
            <a:ext cx="4710383" cy="14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 txBox="1"/>
          <p:nvPr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do.bmstu.ru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6"/>
          <p:cNvSpPr/>
          <p:nvPr/>
        </p:nvSpPr>
        <p:spPr>
          <a:xfrm flipH="1">
            <a:off x="10711835" y="2096584"/>
            <a:ext cx="130790" cy="1332000"/>
          </a:xfrm>
          <a:custGeom>
            <a:rect b="b" l="l" r="r" t="t"/>
            <a:pathLst>
              <a:path extrusionOk="0" h="424732" w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showMasterSp="0" type="title">
  <p:cSld name="TITLE">
    <p:bg>
      <p:bgPr>
        <a:solidFill>
          <a:schemeClr val="lt1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7"/>
          <p:cNvPicPr preferRelativeResize="0"/>
          <p:nvPr/>
        </p:nvPicPr>
        <p:blipFill rotWithShape="1">
          <a:blip r:embed="rId2">
            <a:alphaModFix/>
          </a:blip>
          <a:srcRect b="8845" l="0" r="0" t="1627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" name="Google Shape;38;p7"/>
          <p:cNvGrpSpPr/>
          <p:nvPr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39" name="Google Shape;3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" name="Google Shape;40;p7"/>
            <p:cNvSpPr/>
            <p:nvPr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57539" y="611835"/>
            <a:ext cx="2361600" cy="72195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/>
          <p:nvPr>
            <p:ph type="ctrTitle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b="0" i="0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, подзаголовок и объект">
  <p:cSld name="Заголовок, подзаголовок и объект">
    <p:bg>
      <p:bgPr>
        <a:solidFill>
          <a:schemeClr val="lt1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/>
          <p:nvPr>
            <p:ph idx="1" type="body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indent="-3302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олько заголовок" type="titleOnly">
  <p:cSld name="TITLE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, текст и объект">
  <p:cSld name="Заголовок, текст и объект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4" name="Google Shape;54;p11"/>
          <p:cNvSpPr txBox="1"/>
          <p:nvPr>
            <p:ph idx="2" type="body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indent="-2984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indent="-2984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b="0" i="0" sz="2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9" name="Google Shape;59;p12"/>
          <p:cNvSpPr txBox="1"/>
          <p:nvPr>
            <p:ph idx="2" type="body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indent="-2984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indent="-2984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0" name="Google Shape;60;p12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b="0" i="0" sz="2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3"/>
          <p:cNvSpPr/>
          <p:nvPr>
            <p:ph idx="2" type="pic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algn="ctr" dir="2700000" dist="228600">
              <a:srgbClr val="000000">
                <a:alpha val="29804"/>
              </a:srgbClr>
            </a:outerShdw>
          </a:effectLst>
        </p:spPr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indent="-2984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indent="-2984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3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0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20566" y="446017"/>
            <a:ext cx="2361600" cy="72288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idx="1" type="body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b="0" i="0" sz="14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b="0" i="0" sz="14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20566" y="446017"/>
            <a:ext cx="2361600" cy="722882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b="0" i="0" sz="16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b="0" i="0" sz="14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b="0" i="0" sz="1400" u="none" cap="none" strike="noStrik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ctrTitle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Интеллектуальная платформа обработки и прогнозирования статуса заказов</a:t>
            </a:r>
            <a:endParaRPr/>
          </a:p>
        </p:txBody>
      </p:sp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1078275" y="4667075"/>
            <a:ext cx="9119100" cy="5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</a:pPr>
            <a:r>
              <a:rPr lang="ru-RU"/>
              <a:t>Костомарова Мария Николаевна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88477" y="1935879"/>
            <a:ext cx="11350868" cy="43527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810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ru-RU" sz="2200"/>
              <a:t>Данные заказов находятся в разных источниках</a:t>
            </a:r>
            <a:endParaRPr/>
          </a:p>
          <a:p>
            <a:pPr indent="-381000" lvl="0" marL="457200" rtl="0" algn="just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ru-RU" sz="2200"/>
              <a:t>Ручное объединение увеличивает время подготовки аналитики</a:t>
            </a:r>
            <a:endParaRPr/>
          </a:p>
          <a:p>
            <a:pPr indent="-381000" lvl="0" marL="457200" rtl="0" algn="just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ru-RU" sz="2200"/>
              <a:t>Без единого DWH сложно контролировать качество и историю</a:t>
            </a:r>
            <a:endParaRPr/>
          </a:p>
          <a:p>
            <a:pPr indent="-381000" lvl="0" marL="457200" rtl="0" algn="just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ru-RU" sz="2200"/>
              <a:t>ML позволяет добавить прогнозный контур к классической аналитике</a:t>
            </a:r>
            <a:endParaRPr/>
          </a:p>
        </p:txBody>
      </p:sp>
      <p:sp>
        <p:nvSpPr>
          <p:cNvPr id="77" name="Google Shape;77;p15"/>
          <p:cNvSpPr txBox="1"/>
          <p:nvPr>
            <p:ph idx="2" type="body"/>
          </p:nvPr>
        </p:nvSpPr>
        <p:spPr>
          <a:xfrm>
            <a:off x="213217" y="1333690"/>
            <a:ext cx="1135050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</a:pPr>
            <a:r>
              <a:rPr lang="ru-RU" sz="2600"/>
              <a:t>Почему нужна единая платформа</a:t>
            </a:r>
            <a:endParaRPr/>
          </a:p>
        </p:txBody>
      </p:sp>
      <p:sp>
        <p:nvSpPr>
          <p:cNvPr id="78" name="Google Shape;78;p15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pSp>
        <p:nvGrpSpPr>
          <p:cNvPr id="79" name="Google Shape;79;p15"/>
          <p:cNvGrpSpPr/>
          <p:nvPr/>
        </p:nvGrpSpPr>
        <p:grpSpPr>
          <a:xfrm>
            <a:off x="3167880" y="469293"/>
            <a:ext cx="3835398" cy="666000"/>
            <a:chOff x="1476753" y="3499669"/>
            <a:chExt cx="3835398" cy="666000"/>
          </a:xfrm>
        </p:grpSpPr>
        <p:sp>
          <p:nvSpPr>
            <p:cNvPr id="80" name="Google Shape;80;p15"/>
            <p:cNvSpPr/>
            <p:nvPr/>
          </p:nvSpPr>
          <p:spPr>
            <a:xfrm>
              <a:off x="1476753" y="3499669"/>
              <a:ext cx="3835398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Актуальность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15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15"/>
            <p:cNvSpPr/>
            <p:nvPr/>
          </p:nvSpPr>
          <p:spPr>
            <a:xfrm flipH="1">
              <a:off x="5222102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16"/>
          <p:cNvGrpSpPr/>
          <p:nvPr/>
        </p:nvGrpSpPr>
        <p:grpSpPr>
          <a:xfrm>
            <a:off x="3167880" y="469293"/>
            <a:ext cx="4006000" cy="666000"/>
            <a:chOff x="1476753" y="3499669"/>
            <a:chExt cx="4006000" cy="666000"/>
          </a:xfrm>
        </p:grpSpPr>
        <p:sp>
          <p:nvSpPr>
            <p:cNvPr id="88" name="Google Shape;88;p16"/>
            <p:cNvSpPr/>
            <p:nvPr/>
          </p:nvSpPr>
          <p:spPr>
            <a:xfrm>
              <a:off x="1476753" y="3499669"/>
              <a:ext cx="4006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Цель и задачи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16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6"/>
            <p:cNvSpPr/>
            <p:nvPr/>
          </p:nvSpPr>
          <p:spPr>
            <a:xfrm flipH="1">
              <a:off x="5392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" name="Google Shape;91;p16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1408143" y="1719562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Интегрировать CSV и REST API</a:t>
            </a: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8474033" y="1493010"/>
            <a:ext cx="3157806" cy="4586962"/>
          </a:xfrm>
          <a:prstGeom prst="rect">
            <a:avLst/>
          </a:prstGeom>
          <a:solidFill>
            <a:srgbClr val="F1BE29"/>
          </a:solidFill>
          <a:ln>
            <a:noFill/>
          </a:ln>
        </p:spPr>
        <p:txBody>
          <a:bodyPr anchorCtr="0" anchor="t" bIns="38350" lIns="182875" spcFirstLastPara="1" rIns="182875" wrap="square" tIns="1828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b="1" i="0" lang="ru-RU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Цель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b="1" i="0" lang="ru-RU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Разработать единую платформу сбора, обработки, хранения и анализа данных о заказах</a:t>
            </a:r>
            <a:endParaRPr/>
          </a:p>
        </p:txBody>
      </p:sp>
      <p:grpSp>
        <p:nvGrpSpPr>
          <p:cNvPr id="94" name="Google Shape;94;p16"/>
          <p:cNvGrpSpPr/>
          <p:nvPr/>
        </p:nvGrpSpPr>
        <p:grpSpPr>
          <a:xfrm>
            <a:off x="558782" y="2473564"/>
            <a:ext cx="450202" cy="685765"/>
            <a:chOff x="623996" y="1592262"/>
            <a:chExt cx="333947" cy="508681"/>
          </a:xfrm>
        </p:grpSpPr>
        <p:cxnSp>
          <p:nvCxnSpPr>
            <p:cNvPr id="95" name="Google Shape;95;p16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16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16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98" name="Google Shape;98;p16"/>
          <p:cNvGrpSpPr/>
          <p:nvPr/>
        </p:nvGrpSpPr>
        <p:grpSpPr>
          <a:xfrm>
            <a:off x="558782" y="3443506"/>
            <a:ext cx="450202" cy="685765"/>
            <a:chOff x="623996" y="1592262"/>
            <a:chExt cx="333947" cy="508681"/>
          </a:xfrm>
        </p:grpSpPr>
        <p:cxnSp>
          <p:nvCxnSpPr>
            <p:cNvPr id="99" name="Google Shape;99;p16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16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16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102" name="Google Shape;102;p16"/>
          <p:cNvGrpSpPr/>
          <p:nvPr/>
        </p:nvGrpSpPr>
        <p:grpSpPr>
          <a:xfrm>
            <a:off x="558782" y="4413448"/>
            <a:ext cx="450202" cy="685765"/>
            <a:chOff x="623996" y="1592262"/>
            <a:chExt cx="333947" cy="508681"/>
          </a:xfrm>
        </p:grpSpPr>
        <p:cxnSp>
          <p:nvCxnSpPr>
            <p:cNvPr id="103" name="Google Shape;103;p16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16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16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106" name="Google Shape;106;p16"/>
          <p:cNvGrpSpPr/>
          <p:nvPr/>
        </p:nvGrpSpPr>
        <p:grpSpPr>
          <a:xfrm>
            <a:off x="558782" y="5383390"/>
            <a:ext cx="450202" cy="685765"/>
            <a:chOff x="623996" y="1592262"/>
            <a:chExt cx="333947" cy="508681"/>
          </a:xfrm>
        </p:grpSpPr>
        <p:cxnSp>
          <p:nvCxnSpPr>
            <p:cNvPr id="107" name="Google Shape;107;p16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8" name="Google Shape;108;p16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9" name="Google Shape;109;p16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10" name="Google Shape;110;p16"/>
          <p:cNvSpPr/>
          <p:nvPr/>
        </p:nvSpPr>
        <p:spPr>
          <a:xfrm>
            <a:off x="1408143" y="2689504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Реализовать ETL и staging</a:t>
            </a:r>
            <a:endParaRPr/>
          </a:p>
        </p:txBody>
      </p:sp>
      <p:sp>
        <p:nvSpPr>
          <p:cNvPr id="111" name="Google Shape;111;p16"/>
          <p:cNvSpPr/>
          <p:nvPr/>
        </p:nvSpPr>
        <p:spPr>
          <a:xfrm>
            <a:off x="843937" y="2724186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1408143" y="3659446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Построить DWH по звёздной схеме</a:t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843937" y="3694128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1408143" y="4629388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Реализовать DQ и ML-классификацию</a:t>
            </a:r>
            <a:endParaRPr/>
          </a:p>
        </p:txBody>
      </p:sp>
      <p:sp>
        <p:nvSpPr>
          <p:cNvPr id="115" name="Google Shape;115;p16"/>
          <p:cNvSpPr/>
          <p:nvPr/>
        </p:nvSpPr>
        <p:spPr>
          <a:xfrm>
            <a:off x="843937" y="4664070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1408143" y="5599330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Сформировать прогнозную витрину для BI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843937" y="5634012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6"/>
          <p:cNvGrpSpPr/>
          <p:nvPr/>
        </p:nvGrpSpPr>
        <p:grpSpPr>
          <a:xfrm>
            <a:off x="558782" y="1503622"/>
            <a:ext cx="450202" cy="685765"/>
            <a:chOff x="623996" y="1592262"/>
            <a:chExt cx="333947" cy="508681"/>
          </a:xfrm>
        </p:grpSpPr>
        <p:cxnSp>
          <p:nvCxnSpPr>
            <p:cNvPr id="119" name="Google Shape;119;p16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0" name="Google Shape;120;p16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1" name="Google Shape;121;p16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22" name="Google Shape;122;p16"/>
          <p:cNvSpPr/>
          <p:nvPr/>
        </p:nvSpPr>
        <p:spPr>
          <a:xfrm>
            <a:off x="843937" y="1754244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8" name="Google Shape;128;p17"/>
          <p:cNvSpPr txBox="1"/>
          <p:nvPr/>
        </p:nvSpPr>
        <p:spPr>
          <a:xfrm>
            <a:off x="461150" y="2048680"/>
            <a:ext cx="5119700" cy="4354199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Заказ: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идентификатор, дата, клиент, товар, канал, количество, цена, доставка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Клиент: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сегмент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Товар: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категория и web-рейтинг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Целевая переменная: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order_status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Классы: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completed / cancelled / delayed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224647" y="1333690"/>
            <a:ext cx="711914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rPr b="0" i="0" lang="ru-RU" sz="2600" u="none" cap="none" strike="noStrike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rPr>
              <a:t>Сущности и целевая переменная</a:t>
            </a:r>
            <a:endParaRPr/>
          </a:p>
        </p:txBody>
      </p:sp>
      <p:grpSp>
        <p:nvGrpSpPr>
          <p:cNvPr id="130" name="Google Shape;130;p17"/>
          <p:cNvGrpSpPr/>
          <p:nvPr/>
        </p:nvGrpSpPr>
        <p:grpSpPr>
          <a:xfrm>
            <a:off x="3167880" y="469293"/>
            <a:ext cx="7674000" cy="666000"/>
            <a:chOff x="1476753" y="3499669"/>
            <a:chExt cx="7674000" cy="666000"/>
          </a:xfrm>
        </p:grpSpPr>
        <p:sp>
          <p:nvSpPr>
            <p:cNvPr id="131" name="Google Shape;131;p17"/>
            <p:cNvSpPr/>
            <p:nvPr/>
          </p:nvSpPr>
          <p:spPr>
            <a:xfrm>
              <a:off x="1476753" y="3499669"/>
              <a:ext cx="7674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Предметная область и данные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7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7"/>
            <p:cNvSpPr/>
            <p:nvPr/>
          </p:nvSpPr>
          <p:spPr>
            <a:xfrm flipH="1">
              <a:off x="9060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mage1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30850" y="2490448"/>
            <a:ext cx="5900000" cy="2617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8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0" name="Google Shape;140;p18"/>
          <p:cNvSpPr txBox="1"/>
          <p:nvPr/>
        </p:nvSpPr>
        <p:spPr>
          <a:xfrm>
            <a:off x="461150" y="2048680"/>
            <a:ext cx="5719700" cy="4354199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Источник 1 — CSV: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операционные заказы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Источник 2 — REST API: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характеристики товаров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Данные объединяются по product_id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В демонстрационном наборе: 2 000 заказов и 50 товаров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224647" y="1333690"/>
            <a:ext cx="605620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rPr b="0" i="0" lang="ru-RU" sz="2600" u="none" cap="none" strike="noStrike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rPr>
              <a:t>CSV + REST API</a:t>
            </a:r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3167880" y="469293"/>
            <a:ext cx="4792000" cy="666000"/>
            <a:chOff x="1476753" y="3499669"/>
            <a:chExt cx="4792000" cy="666000"/>
          </a:xfrm>
        </p:grpSpPr>
        <p:sp>
          <p:nvSpPr>
            <p:cNvPr id="143" name="Google Shape;143;p18"/>
            <p:cNvSpPr/>
            <p:nvPr/>
          </p:nvSpPr>
          <p:spPr>
            <a:xfrm>
              <a:off x="1476753" y="3499669"/>
              <a:ext cx="4792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Источники данных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 flipH="1">
              <a:off x="6178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mage2.png" id="146" name="Google Shape;1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30850" y="1468979"/>
            <a:ext cx="5300000" cy="46606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9"/>
          <p:cNvGrpSpPr/>
          <p:nvPr/>
        </p:nvGrpSpPr>
        <p:grpSpPr>
          <a:xfrm>
            <a:off x="3167880" y="469293"/>
            <a:ext cx="5578000" cy="666000"/>
            <a:chOff x="1476753" y="3499669"/>
            <a:chExt cx="5578000" cy="666000"/>
          </a:xfrm>
        </p:grpSpPr>
        <p:sp>
          <p:nvSpPr>
            <p:cNvPr id="152" name="Google Shape;152;p19"/>
            <p:cNvSpPr/>
            <p:nvPr/>
          </p:nvSpPr>
          <p:spPr>
            <a:xfrm>
              <a:off x="1476753" y="3499669"/>
              <a:ext cx="5578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Архитектура решения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9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9"/>
            <p:cNvSpPr/>
            <p:nvPr/>
          </p:nvSpPr>
          <p:spPr>
            <a:xfrm flipH="1">
              <a:off x="6964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5" name="Google Shape;155;p19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6" name="Google Shape;156;p19"/>
          <p:cNvSpPr/>
          <p:nvPr/>
        </p:nvSpPr>
        <p:spPr>
          <a:xfrm>
            <a:off x="1408143" y="1719562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Источники: CSV + REST API</a:t>
            </a:r>
            <a:endParaRPr/>
          </a:p>
        </p:txBody>
      </p:sp>
      <p:grpSp>
        <p:nvGrpSpPr>
          <p:cNvPr id="157" name="Google Shape;157;p19"/>
          <p:cNvGrpSpPr/>
          <p:nvPr/>
        </p:nvGrpSpPr>
        <p:grpSpPr>
          <a:xfrm>
            <a:off x="558782" y="2473564"/>
            <a:ext cx="450202" cy="685765"/>
            <a:chOff x="623996" y="1592262"/>
            <a:chExt cx="333947" cy="508681"/>
          </a:xfrm>
        </p:grpSpPr>
        <p:cxnSp>
          <p:nvCxnSpPr>
            <p:cNvPr id="158" name="Google Shape;158;p19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19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19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161" name="Google Shape;161;p19"/>
          <p:cNvGrpSpPr/>
          <p:nvPr/>
        </p:nvGrpSpPr>
        <p:grpSpPr>
          <a:xfrm>
            <a:off x="558782" y="3443506"/>
            <a:ext cx="450202" cy="685765"/>
            <a:chOff x="623996" y="1592262"/>
            <a:chExt cx="333947" cy="508681"/>
          </a:xfrm>
        </p:grpSpPr>
        <p:cxnSp>
          <p:nvCxnSpPr>
            <p:cNvPr id="162" name="Google Shape;162;p19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19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19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165" name="Google Shape;165;p19"/>
          <p:cNvGrpSpPr/>
          <p:nvPr/>
        </p:nvGrpSpPr>
        <p:grpSpPr>
          <a:xfrm>
            <a:off x="558782" y="4413448"/>
            <a:ext cx="450202" cy="685765"/>
            <a:chOff x="623996" y="1592262"/>
            <a:chExt cx="333947" cy="508681"/>
          </a:xfrm>
        </p:grpSpPr>
        <p:cxnSp>
          <p:nvCxnSpPr>
            <p:cNvPr id="166" name="Google Shape;166;p19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19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19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169" name="Google Shape;169;p19"/>
          <p:cNvGrpSpPr/>
          <p:nvPr/>
        </p:nvGrpSpPr>
        <p:grpSpPr>
          <a:xfrm>
            <a:off x="558782" y="5383390"/>
            <a:ext cx="450202" cy="685765"/>
            <a:chOff x="623996" y="1592262"/>
            <a:chExt cx="333947" cy="508681"/>
          </a:xfrm>
        </p:grpSpPr>
        <p:cxnSp>
          <p:nvCxnSpPr>
            <p:cNvPr id="170" name="Google Shape;170;p19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1" name="Google Shape;171;p19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2" name="Google Shape;172;p19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3" name="Google Shape;173;p19"/>
          <p:cNvSpPr/>
          <p:nvPr/>
        </p:nvSpPr>
        <p:spPr>
          <a:xfrm>
            <a:off x="1408143" y="2689504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Оркестрация: Apache Airflow</a:t>
            </a:r>
            <a:endParaRPr/>
          </a:p>
        </p:txBody>
      </p:sp>
      <p:sp>
        <p:nvSpPr>
          <p:cNvPr id="174" name="Google Shape;174;p19"/>
          <p:cNvSpPr/>
          <p:nvPr/>
        </p:nvSpPr>
        <p:spPr>
          <a:xfrm>
            <a:off x="843937" y="2724186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1408143" y="3659446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Staging-слой в PostgreSQL</a:t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843937" y="3694128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1408143" y="4629388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DWH: звёздная схема</a:t>
            </a:r>
            <a:endParaRPr/>
          </a:p>
        </p:txBody>
      </p:sp>
      <p:sp>
        <p:nvSpPr>
          <p:cNvPr id="178" name="Google Shape;178;p19"/>
          <p:cNvSpPr/>
          <p:nvPr/>
        </p:nvSpPr>
        <p:spPr>
          <a:xfrm>
            <a:off x="843937" y="4664070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1408143" y="5599330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ML + MLflow → prediction → mart / BI</a:t>
            </a:r>
            <a:endParaRPr/>
          </a:p>
        </p:txBody>
      </p:sp>
      <p:sp>
        <p:nvSpPr>
          <p:cNvPr id="180" name="Google Shape;180;p19"/>
          <p:cNvSpPr/>
          <p:nvPr/>
        </p:nvSpPr>
        <p:spPr>
          <a:xfrm>
            <a:off x="843937" y="5634012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1" name="Google Shape;181;p19"/>
          <p:cNvGrpSpPr/>
          <p:nvPr/>
        </p:nvGrpSpPr>
        <p:grpSpPr>
          <a:xfrm>
            <a:off x="558782" y="1503622"/>
            <a:ext cx="450202" cy="685765"/>
            <a:chOff x="623996" y="1592262"/>
            <a:chExt cx="333947" cy="508681"/>
          </a:xfrm>
        </p:grpSpPr>
        <p:cxnSp>
          <p:nvCxnSpPr>
            <p:cNvPr id="182" name="Google Shape;182;p19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19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19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85" name="Google Shape;185;p19"/>
          <p:cNvSpPr/>
          <p:nvPr/>
        </p:nvSpPr>
        <p:spPr>
          <a:xfrm>
            <a:off x="843937" y="1754244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95850" y="2457450"/>
            <a:ext cx="5105400" cy="194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461150" y="2048680"/>
            <a:ext cx="5119700" cy="4354199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generate_sources → web_parsing → load_staging → build_dwh → data_quality → train_model → predict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Каждый этап — отдельная задача Airflow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Повторный запуск контролируется DAG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224647" y="1333690"/>
            <a:ext cx="711914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rPr b="0" i="0" lang="ru-RU" sz="2600" u="none" cap="none" strike="noStrike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rPr>
              <a:t>DAG orders_end_to_end</a:t>
            </a:r>
            <a:endParaRPr/>
          </a:p>
        </p:txBody>
      </p:sp>
      <p:grpSp>
        <p:nvGrpSpPr>
          <p:cNvPr id="194" name="Google Shape;194;p20"/>
          <p:cNvGrpSpPr/>
          <p:nvPr/>
        </p:nvGrpSpPr>
        <p:grpSpPr>
          <a:xfrm>
            <a:off x="3167880" y="469293"/>
            <a:ext cx="7412000" cy="666000"/>
            <a:chOff x="1476753" y="3499669"/>
            <a:chExt cx="7412000" cy="666000"/>
          </a:xfrm>
        </p:grpSpPr>
        <p:sp>
          <p:nvSpPr>
            <p:cNvPr id="195" name="Google Shape;195;p20"/>
            <p:cNvSpPr/>
            <p:nvPr/>
          </p:nvSpPr>
          <p:spPr>
            <a:xfrm>
              <a:off x="1476753" y="3499669"/>
              <a:ext cx="7412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ETL-пайплайн и оркестрация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20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20"/>
            <p:cNvSpPr/>
            <p:nvPr/>
          </p:nvSpPr>
          <p:spPr>
            <a:xfrm flipH="1">
              <a:off x="8798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mage3.png" id="198" name="Google Shape;19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30850" y="1984639"/>
            <a:ext cx="5900000" cy="3629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"/>
          <p:cNvSpPr txBox="1"/>
          <p:nvPr>
            <p:ph idx="12" type="sldNum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04" name="Google Shape;204;p21"/>
          <p:cNvSpPr txBox="1"/>
          <p:nvPr>
            <p:ph idx="1" type="body"/>
          </p:nvPr>
        </p:nvSpPr>
        <p:spPr>
          <a:xfrm>
            <a:off x="387331" y="193830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76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None/>
            </a:pPr>
            <a:r>
              <a:rPr b="1" lang="ru-RU" sz="2200"/>
              <a:t>Staging-слой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staging.orders_raw — сырой слой заказов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staging.web_products_raw — сырой слой API</a:t>
            </a:r>
            <a:endParaRPr/>
          </a:p>
        </p:txBody>
      </p:sp>
      <p:sp>
        <p:nvSpPr>
          <p:cNvPr id="205" name="Google Shape;205;p21"/>
          <p:cNvSpPr txBox="1"/>
          <p:nvPr>
            <p:ph idx="2" type="body"/>
          </p:nvPr>
        </p:nvSpPr>
        <p:spPr>
          <a:xfrm>
            <a:off x="6241899" y="193830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76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None/>
            </a:pPr>
            <a:r>
              <a:rPr b="1" lang="ru-RU" sz="2200"/>
              <a:t>Проверки качества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Уникальность order_id, статусы, положительные количества и цены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Каналы, доставка, рейтинги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Внешние ключи DWH</a:t>
            </a:r>
            <a:endParaRPr/>
          </a:p>
        </p:txBody>
      </p:sp>
      <p:sp>
        <p:nvSpPr>
          <p:cNvPr id="206" name="Google Shape;206;p21"/>
          <p:cNvSpPr txBox="1"/>
          <p:nvPr>
            <p:ph idx="3" type="body"/>
          </p:nvPr>
        </p:nvSpPr>
        <p:spPr>
          <a:xfrm>
            <a:off x="206357" y="133075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</a:pPr>
            <a:r>
              <a:rPr lang="ru-RU" sz="2600"/>
              <a:t>Сырой слой и проверки data_quality</a:t>
            </a:r>
            <a:endParaRPr/>
          </a:p>
        </p:txBody>
      </p:sp>
      <p:grpSp>
        <p:nvGrpSpPr>
          <p:cNvPr id="207" name="Google Shape;207;p21"/>
          <p:cNvGrpSpPr/>
          <p:nvPr/>
        </p:nvGrpSpPr>
        <p:grpSpPr>
          <a:xfrm>
            <a:off x="3167880" y="469293"/>
            <a:ext cx="7674000" cy="666000"/>
            <a:chOff x="1476753" y="3499669"/>
            <a:chExt cx="7674000" cy="666000"/>
          </a:xfrm>
        </p:grpSpPr>
        <p:sp>
          <p:nvSpPr>
            <p:cNvPr id="208" name="Google Shape;208;p21"/>
            <p:cNvSpPr/>
            <p:nvPr/>
          </p:nvSpPr>
          <p:spPr>
            <a:xfrm>
              <a:off x="1476753" y="3499669"/>
              <a:ext cx="7674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Staging и контроль качества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1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1"/>
            <p:cNvSpPr/>
            <p:nvPr/>
          </p:nvSpPr>
          <p:spPr>
            <a:xfrm flipH="1">
              <a:off x="9060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2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pSp>
        <p:nvGrpSpPr>
          <p:cNvPr id="216" name="Google Shape;216;p22"/>
          <p:cNvGrpSpPr/>
          <p:nvPr/>
        </p:nvGrpSpPr>
        <p:grpSpPr>
          <a:xfrm>
            <a:off x="3167880" y="469293"/>
            <a:ext cx="5578000" cy="666000"/>
            <a:chOff x="1476753" y="3499669"/>
            <a:chExt cx="5578000" cy="666000"/>
          </a:xfrm>
        </p:grpSpPr>
        <p:sp>
          <p:nvSpPr>
            <p:cNvPr id="217" name="Google Shape;217;p22"/>
            <p:cNvSpPr/>
            <p:nvPr/>
          </p:nvSpPr>
          <p:spPr>
            <a:xfrm>
              <a:off x="1476753" y="3499669"/>
              <a:ext cx="5578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DWH: звёздная схема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 flipH="1">
              <a:off x="6964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er.png" id="220" name="Google Shape;22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8105" y="1300000"/>
            <a:ext cx="8555789" cy="5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3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26" name="Google Shape;226;p23"/>
          <p:cNvSpPr txBox="1"/>
          <p:nvPr/>
        </p:nvSpPr>
        <p:spPr>
          <a:xfrm>
            <a:off x="461150" y="2048680"/>
            <a:ext cx="5119700" cy="4354199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Алгоритм: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Random Forest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Предобработка категориальных признаков: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OneHotEncoder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Разбиение: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80% train / 20% test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Признаки не содержат target order_status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Результат: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класс + вероятность класса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224647" y="1333690"/>
            <a:ext cx="545620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rPr b="0" i="0" lang="ru-RU" sz="2600" u="none" cap="none" strike="noStrike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rPr>
              <a:t>Классификация статуса заказа</a:t>
            </a:r>
            <a:endParaRPr/>
          </a:p>
        </p:txBody>
      </p:sp>
      <p:grpSp>
        <p:nvGrpSpPr>
          <p:cNvPr id="228" name="Google Shape;228;p23"/>
          <p:cNvGrpSpPr/>
          <p:nvPr/>
        </p:nvGrpSpPr>
        <p:grpSpPr>
          <a:xfrm>
            <a:off x="3167880" y="469293"/>
            <a:ext cx="5054000" cy="666000"/>
            <a:chOff x="1476753" y="3499669"/>
            <a:chExt cx="5054000" cy="666000"/>
          </a:xfrm>
        </p:grpSpPr>
        <p:sp>
          <p:nvSpPr>
            <p:cNvPr id="229" name="Google Shape;229;p23"/>
            <p:cNvSpPr/>
            <p:nvPr/>
          </p:nvSpPr>
          <p:spPr>
            <a:xfrm>
              <a:off x="1476753" y="3499669"/>
              <a:ext cx="5054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Машинное обучение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3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3"/>
            <p:cNvSpPr/>
            <p:nvPr/>
          </p:nvSpPr>
          <p:spPr>
            <a:xfrm flipH="1">
              <a:off x="6440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mage5.png" id="232" name="Google Shape;23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30850" y="1586808"/>
            <a:ext cx="5900000" cy="442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4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38" name="Google Shape;238;p24"/>
          <p:cNvSpPr txBox="1"/>
          <p:nvPr/>
        </p:nvSpPr>
        <p:spPr>
          <a:xfrm>
            <a:off x="461150" y="2048675"/>
            <a:ext cx="10608300" cy="43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2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Фиксируются параметры модели и Accuracy/F1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2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Сохраняются артефакты модели и test index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2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Prediction использует ссылку на конкретный run, с локальным fallback</a:t>
            </a:r>
            <a:endParaRPr/>
          </a:p>
        </p:txBody>
      </p:sp>
      <p:sp>
        <p:nvSpPr>
          <p:cNvPr id="239" name="Google Shape;239;p24"/>
          <p:cNvSpPr txBox="1"/>
          <p:nvPr/>
        </p:nvSpPr>
        <p:spPr>
          <a:xfrm>
            <a:off x="224647" y="1333690"/>
            <a:ext cx="711914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rPr b="0" i="0" lang="ru-RU" sz="2600" u="none" cap="none" strike="noStrike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rPr>
              <a:t>Experiment: order_status_classification</a:t>
            </a:r>
            <a:endParaRPr/>
          </a:p>
        </p:txBody>
      </p:sp>
      <p:grpSp>
        <p:nvGrpSpPr>
          <p:cNvPr id="240" name="Google Shape;240;p24"/>
          <p:cNvGrpSpPr/>
          <p:nvPr/>
        </p:nvGrpSpPr>
        <p:grpSpPr>
          <a:xfrm>
            <a:off x="3167880" y="469293"/>
            <a:ext cx="7412000" cy="666000"/>
            <a:chOff x="1476753" y="3499669"/>
            <a:chExt cx="7412000" cy="666000"/>
          </a:xfrm>
        </p:grpSpPr>
        <p:sp>
          <p:nvSpPr>
            <p:cNvPr id="241" name="Google Shape;241;p24"/>
            <p:cNvSpPr/>
            <p:nvPr/>
          </p:nvSpPr>
          <p:spPr>
            <a:xfrm>
              <a:off x="1476753" y="3499669"/>
              <a:ext cx="7412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MLflow и воспроизводимость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4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4"/>
            <p:cNvSpPr/>
            <p:nvPr/>
          </p:nvSpPr>
          <p:spPr>
            <a:xfrm flipH="1">
              <a:off x="8798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44" name="Google Shape;24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8588" y="4108894"/>
            <a:ext cx="4434826" cy="18731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" name="Google Shape;249;p25"/>
          <p:cNvGrpSpPr/>
          <p:nvPr/>
        </p:nvGrpSpPr>
        <p:grpSpPr>
          <a:xfrm>
            <a:off x="3167880" y="469293"/>
            <a:ext cx="5054000" cy="666000"/>
            <a:chOff x="1476753" y="3499669"/>
            <a:chExt cx="5054000" cy="666000"/>
          </a:xfrm>
        </p:grpSpPr>
        <p:sp>
          <p:nvSpPr>
            <p:cNvPr id="250" name="Google Shape;250;p25"/>
            <p:cNvSpPr/>
            <p:nvPr/>
          </p:nvSpPr>
          <p:spPr>
            <a:xfrm>
              <a:off x="1476753" y="3499669"/>
              <a:ext cx="5054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Прогнозный контур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25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25"/>
            <p:cNvSpPr/>
            <p:nvPr/>
          </p:nvSpPr>
          <p:spPr>
            <a:xfrm flipH="1">
              <a:off x="6440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3" name="Google Shape;253;p25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54" name="Google Shape;254;p25"/>
          <p:cNvSpPr/>
          <p:nvPr/>
        </p:nvSpPr>
        <p:spPr>
          <a:xfrm>
            <a:off x="1408143" y="1719562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Модель получает признаки из mart.v_order_dashboard</a:t>
            </a:r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>
            <a:off x="558782" y="2796879"/>
            <a:ext cx="450202" cy="685765"/>
            <a:chOff x="623996" y="1592262"/>
            <a:chExt cx="333947" cy="508681"/>
          </a:xfrm>
        </p:grpSpPr>
        <p:cxnSp>
          <p:nvCxnSpPr>
            <p:cNvPr id="256" name="Google Shape;256;p25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7" name="Google Shape;257;p25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8" name="Google Shape;258;p25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59" name="Google Shape;259;p25"/>
          <p:cNvGrpSpPr/>
          <p:nvPr/>
        </p:nvGrpSpPr>
        <p:grpSpPr>
          <a:xfrm>
            <a:off x="558782" y="4090136"/>
            <a:ext cx="450202" cy="685765"/>
            <a:chOff x="623996" y="1592262"/>
            <a:chExt cx="333947" cy="508681"/>
          </a:xfrm>
        </p:grpSpPr>
        <p:cxnSp>
          <p:nvCxnSpPr>
            <p:cNvPr id="260" name="Google Shape;260;p25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1" name="Google Shape;261;p25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2" name="Google Shape;262;p25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63" name="Google Shape;263;p25"/>
          <p:cNvGrpSpPr/>
          <p:nvPr/>
        </p:nvGrpSpPr>
        <p:grpSpPr>
          <a:xfrm>
            <a:off x="558782" y="5383393"/>
            <a:ext cx="450202" cy="685765"/>
            <a:chOff x="623996" y="1592262"/>
            <a:chExt cx="333947" cy="508681"/>
          </a:xfrm>
        </p:grpSpPr>
        <p:cxnSp>
          <p:nvCxnSpPr>
            <p:cNvPr id="264" name="Google Shape;264;p25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5" name="Google Shape;265;p25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6" name="Google Shape;266;p25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67" name="Google Shape;267;p25"/>
          <p:cNvSpPr/>
          <p:nvPr/>
        </p:nvSpPr>
        <p:spPr>
          <a:xfrm>
            <a:off x="1408143" y="3012819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Для каждого заказа рассчитывается predicted_status</a:t>
            </a:r>
            <a:endParaRPr/>
          </a:p>
        </p:txBody>
      </p:sp>
      <p:sp>
        <p:nvSpPr>
          <p:cNvPr id="268" name="Google Shape;268;p25"/>
          <p:cNvSpPr/>
          <p:nvPr/>
        </p:nvSpPr>
        <p:spPr>
          <a:xfrm>
            <a:off x="843937" y="3047501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5"/>
          <p:cNvSpPr/>
          <p:nvPr/>
        </p:nvSpPr>
        <p:spPr>
          <a:xfrm>
            <a:off x="1408143" y="4306076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Сохраняется probability наиболее вероятного класса</a:t>
            </a:r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843937" y="4340758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5"/>
          <p:cNvSpPr/>
          <p:nvPr/>
        </p:nvSpPr>
        <p:spPr>
          <a:xfrm>
            <a:off x="1408143" y="5599333"/>
            <a:ext cx="6900000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Результат записывается в mart.order_predictions</a:t>
            </a:r>
            <a:endParaRPr/>
          </a:p>
        </p:txBody>
      </p:sp>
      <p:sp>
        <p:nvSpPr>
          <p:cNvPr id="272" name="Google Shape;272;p25"/>
          <p:cNvSpPr/>
          <p:nvPr/>
        </p:nvSpPr>
        <p:spPr>
          <a:xfrm>
            <a:off x="843937" y="5634015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3" name="Google Shape;273;p25"/>
          <p:cNvGrpSpPr/>
          <p:nvPr/>
        </p:nvGrpSpPr>
        <p:grpSpPr>
          <a:xfrm>
            <a:off x="558782" y="1503622"/>
            <a:ext cx="450202" cy="685765"/>
            <a:chOff x="623996" y="1592262"/>
            <a:chExt cx="333947" cy="508681"/>
          </a:xfrm>
        </p:grpSpPr>
        <p:cxnSp>
          <p:nvCxnSpPr>
            <p:cNvPr id="274" name="Google Shape;274;p25"/>
            <p:cNvCxnSpPr/>
            <p:nvPr/>
          </p:nvCxnSpPr>
          <p:spPr>
            <a:xfrm>
              <a:off x="623996" y="1592262"/>
              <a:ext cx="0" cy="508681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25"/>
            <p:cNvCxnSpPr/>
            <p:nvPr/>
          </p:nvCxnSpPr>
          <p:spPr>
            <a:xfrm>
              <a:off x="623996" y="1592262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25"/>
            <p:cNvCxnSpPr/>
            <p:nvPr/>
          </p:nvCxnSpPr>
          <p:spPr>
            <a:xfrm>
              <a:off x="623996" y="2093005"/>
              <a:ext cx="333947" cy="0"/>
            </a:xfrm>
            <a:prstGeom prst="straightConnector1">
              <a:avLst/>
            </a:prstGeom>
            <a:noFill/>
            <a:ln cap="flat" cmpd="sng" w="28575">
              <a:solidFill>
                <a:srgbClr val="065CAB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77" name="Google Shape;277;p25"/>
          <p:cNvSpPr/>
          <p:nvPr/>
        </p:nvSpPr>
        <p:spPr>
          <a:xfrm>
            <a:off x="843937" y="1754244"/>
            <a:ext cx="10776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baseline="30000" i="0" lang="ru-RU" sz="36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baseline="30000" i="0" sz="3600" u="none" cap="none" strike="noStrike">
              <a:solidFill>
                <a:srgbClr val="065CA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6"/>
          <p:cNvSpPr txBox="1"/>
          <p:nvPr>
            <p:ph idx="1" type="body"/>
          </p:nvPr>
        </p:nvSpPr>
        <p:spPr>
          <a:xfrm>
            <a:off x="971561" y="4634530"/>
            <a:ext cx="10823324" cy="1214916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</a:pPr>
            <a:r>
              <a:rPr b="1" lang="ru-RU" sz="2000"/>
              <a:t>mart.v_order_dashboard объединяет факт и измерения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39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</a:pPr>
            <a:r>
              <a:rPr lang="ru-RU" sz="1800"/>
              <a:t>Витрина содержит дату, статус, сумму, доставку, количество, сегмент, оплату, канал, категорию и рейтинг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39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</a:pPr>
            <a:r>
              <a:rPr lang="ru-RU" sz="1800"/>
              <a:t>Предназначена для подключения BI</a:t>
            </a:r>
            <a:endParaRPr/>
          </a:p>
        </p:txBody>
      </p:sp>
      <p:sp>
        <p:nvSpPr>
          <p:cNvPr id="283" name="Google Shape;283;p26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284" name="Google Shape;284;p26"/>
          <p:cNvCxnSpPr/>
          <p:nvPr/>
        </p:nvCxnSpPr>
        <p:spPr>
          <a:xfrm>
            <a:off x="558782" y="4362887"/>
            <a:ext cx="0" cy="1753829"/>
          </a:xfrm>
          <a:prstGeom prst="straightConnector1">
            <a:avLst/>
          </a:prstGeom>
          <a:noFill/>
          <a:ln cap="flat" cmpd="sng" w="28575">
            <a:solidFill>
              <a:srgbClr val="065CAB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85" name="Google Shape;285;p26"/>
          <p:cNvCxnSpPr/>
          <p:nvPr/>
        </p:nvCxnSpPr>
        <p:spPr>
          <a:xfrm flipH="1" rot="10800000">
            <a:off x="559293" y="6095533"/>
            <a:ext cx="825048" cy="21183"/>
          </a:xfrm>
          <a:prstGeom prst="straightConnector1">
            <a:avLst/>
          </a:prstGeom>
          <a:noFill/>
          <a:ln cap="flat" cmpd="sng" w="28575">
            <a:solidFill>
              <a:srgbClr val="065CAB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86" name="Google Shape;286;p26"/>
          <p:cNvCxnSpPr/>
          <p:nvPr/>
        </p:nvCxnSpPr>
        <p:spPr>
          <a:xfrm>
            <a:off x="558782" y="4362887"/>
            <a:ext cx="825559" cy="0"/>
          </a:xfrm>
          <a:prstGeom prst="straightConnector1">
            <a:avLst/>
          </a:prstGeom>
          <a:noFill/>
          <a:ln cap="flat" cmpd="sng" w="28575">
            <a:solidFill>
              <a:srgbClr val="065CAB"/>
            </a:solidFill>
            <a:prstDash val="solid"/>
            <a:miter lim="8000"/>
            <a:headEnd len="sm" w="sm" type="none"/>
            <a:tailEnd len="sm" w="sm" type="none"/>
          </a:ln>
        </p:spPr>
      </p:cxnSp>
      <p:grpSp>
        <p:nvGrpSpPr>
          <p:cNvPr id="287" name="Google Shape;287;p26"/>
          <p:cNvGrpSpPr/>
          <p:nvPr/>
        </p:nvGrpSpPr>
        <p:grpSpPr>
          <a:xfrm>
            <a:off x="3167880" y="469293"/>
            <a:ext cx="6102000" cy="666000"/>
            <a:chOff x="1476753" y="3499669"/>
            <a:chExt cx="6102000" cy="666000"/>
          </a:xfrm>
        </p:grpSpPr>
        <p:sp>
          <p:nvSpPr>
            <p:cNvPr id="288" name="Google Shape;288;p26"/>
            <p:cNvSpPr/>
            <p:nvPr/>
          </p:nvSpPr>
          <p:spPr>
            <a:xfrm>
              <a:off x="1476753" y="3499669"/>
              <a:ext cx="6102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Аналитическая витрина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26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26"/>
            <p:cNvSpPr/>
            <p:nvPr/>
          </p:nvSpPr>
          <p:spPr>
            <a:xfrm flipH="1">
              <a:off x="7488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mage6.png" id="291" name="Google Shape;29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62667" y="1350000"/>
            <a:ext cx="5066666" cy="28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7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97" name="Google Shape;297;p27"/>
          <p:cNvSpPr txBox="1"/>
          <p:nvPr/>
        </p:nvSpPr>
        <p:spPr>
          <a:xfrm>
            <a:off x="461150" y="2048680"/>
            <a:ext cx="5119700" cy="4354199"/>
          </a:xfrm>
          <a:prstGeom prst="rect">
            <a:avLst/>
          </a:prstGeom>
          <a:noFill/>
          <a:ln>
            <a:noFill/>
          </a:ln>
        </p:spPr>
        <p:txBody>
          <a:bodyPr anchorCtr="0" anchor="t" bIns="38350" lIns="76725" spcFirstLastPara="1" rIns="76725" wrap="square" tIns="383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Локальная проверка ML в текущей среде: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Accuracy 0.8925, F1 weighted 0.8631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Ранее зафиксированный результат Docker-стенда: </a:t>
            </a: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Accuracy 0.8975, F1 weighted 0.8695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ru-RU" sz="2000" u="none" cap="none" strike="noStrike">
                <a:solidFill>
                  <a:srgbClr val="272727"/>
                </a:solidFill>
                <a:latin typeface="Arial"/>
                <a:ea typeface="Arial"/>
                <a:cs typeface="Arial"/>
                <a:sym typeface="Arial"/>
              </a:rPr>
              <a:t>На защите показываются метрики фактического запуска MLflow</a:t>
            </a:r>
            <a:endParaRPr/>
          </a:p>
        </p:txBody>
      </p:sp>
      <p:sp>
        <p:nvSpPr>
          <p:cNvPr id="298" name="Google Shape;298;p27"/>
          <p:cNvSpPr txBox="1"/>
          <p:nvPr/>
        </p:nvSpPr>
        <p:spPr>
          <a:xfrm>
            <a:off x="224647" y="1333690"/>
            <a:ext cx="711914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rPr b="0" i="0" lang="ru-RU" sz="2600" u="none" cap="none" strike="noStrike">
                <a:solidFill>
                  <a:srgbClr val="F1BE29"/>
                </a:solidFill>
                <a:latin typeface="Arial"/>
                <a:ea typeface="Arial"/>
                <a:cs typeface="Arial"/>
                <a:sym typeface="Arial"/>
              </a:rPr>
              <a:t>2 000 заказов • 1 600 train • 400 test</a:t>
            </a:r>
            <a:endParaRPr/>
          </a:p>
        </p:txBody>
      </p:sp>
      <p:grpSp>
        <p:nvGrpSpPr>
          <p:cNvPr id="299" name="Google Shape;299;p27"/>
          <p:cNvGrpSpPr/>
          <p:nvPr/>
        </p:nvGrpSpPr>
        <p:grpSpPr>
          <a:xfrm>
            <a:off x="3167880" y="469293"/>
            <a:ext cx="8198000" cy="666000"/>
            <a:chOff x="1476753" y="3499669"/>
            <a:chExt cx="8198000" cy="666000"/>
          </a:xfrm>
        </p:grpSpPr>
        <p:sp>
          <p:nvSpPr>
            <p:cNvPr id="300" name="Google Shape;300;p27"/>
            <p:cNvSpPr/>
            <p:nvPr/>
          </p:nvSpPr>
          <p:spPr>
            <a:xfrm>
              <a:off x="1476753" y="3499669"/>
              <a:ext cx="8198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Результаты на тестовом наборе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27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27"/>
            <p:cNvSpPr/>
            <p:nvPr/>
          </p:nvSpPr>
          <p:spPr>
            <a:xfrm flipH="1">
              <a:off x="9584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mage7.png" id="303" name="Google Shape;30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30850" y="2139933"/>
            <a:ext cx="5900000" cy="331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8"/>
          <p:cNvSpPr txBox="1"/>
          <p:nvPr>
            <p:ph idx="1" type="body"/>
          </p:nvPr>
        </p:nvSpPr>
        <p:spPr>
          <a:xfrm>
            <a:off x="388477" y="1935879"/>
            <a:ext cx="11350868" cy="43527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76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None/>
            </a:pPr>
            <a:r>
              <a:rPr lang="ru-RU" sz="2200"/>
              <a:t>Проверены:</a:t>
            </a:r>
            <a:endParaRPr/>
          </a:p>
          <a:p>
            <a:pPr indent="-457200" lvl="0" marL="5334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Arial"/>
              <a:buAutoNum type="arabicPeriod"/>
            </a:pPr>
            <a:r>
              <a:rPr lang="ru-RU" sz="2200"/>
              <a:t>структура и объём источников</a:t>
            </a:r>
            <a:endParaRPr/>
          </a:p>
          <a:p>
            <a:pPr indent="-457200" lvl="0" marL="5334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Arial"/>
              <a:buAutoNum type="arabicPeriod"/>
            </a:pPr>
            <a:r>
              <a:rPr lang="ru-RU" sz="2200"/>
              <a:t>уникальность ID</a:t>
            </a:r>
            <a:endParaRPr/>
          </a:p>
          <a:p>
            <a:pPr indent="-457200" lvl="0" marL="5334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Arial"/>
              <a:buAutoNum type="arabicPeriod"/>
            </a:pPr>
            <a:r>
              <a:rPr lang="ru-RU" sz="2200"/>
              <a:t>SQL DWH / mart</a:t>
            </a:r>
            <a:endParaRPr/>
          </a:p>
          <a:p>
            <a:pPr indent="-457200" lvl="0" marL="5334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Arial"/>
              <a:buAutoNum type="arabicPeriod"/>
            </a:pPr>
            <a:r>
              <a:rPr lang="ru-RU" sz="2200"/>
              <a:t>порядок задач DAG</a:t>
            </a:r>
            <a:endParaRPr/>
          </a:p>
          <a:p>
            <a:pPr indent="-457200" lvl="0" marL="5334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Arial"/>
              <a:buAutoNum type="arabicPeriod"/>
            </a:pPr>
            <a:r>
              <a:rPr lang="ru-RU" sz="2200"/>
              <a:t>наличие ML-артефактов</a:t>
            </a:r>
            <a:endParaRPr/>
          </a:p>
          <a:p>
            <a:pPr indent="0" lvl="0" marL="7620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400"/>
              <a:buNone/>
            </a:pPr>
            <a:r>
              <a:rPr lang="ru-RU" sz="2200"/>
              <a:t>Docker-интеграционный прогон не выполнялся в среде проверки, поскольку Docker Engine недоступен</a:t>
            </a:r>
            <a:endParaRPr/>
          </a:p>
        </p:txBody>
      </p:sp>
      <p:sp>
        <p:nvSpPr>
          <p:cNvPr id="309" name="Google Shape;309;p28"/>
          <p:cNvSpPr txBox="1"/>
          <p:nvPr>
            <p:ph idx="2" type="body"/>
          </p:nvPr>
        </p:nvSpPr>
        <p:spPr>
          <a:xfrm>
            <a:off x="213217" y="1333690"/>
            <a:ext cx="11350503" cy="6006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</a:pPr>
            <a:r>
              <a:rPr lang="ru-RU" sz="2600"/>
              <a:t>Автотесты проекта: 9 passed, 1 skipped в текущей среде</a:t>
            </a:r>
            <a:endParaRPr/>
          </a:p>
        </p:txBody>
      </p:sp>
      <p:sp>
        <p:nvSpPr>
          <p:cNvPr id="310" name="Google Shape;310;p28"/>
          <p:cNvSpPr txBox="1"/>
          <p:nvPr>
            <p:ph idx="12" type="sldNum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pSp>
        <p:nvGrpSpPr>
          <p:cNvPr id="311" name="Google Shape;311;p28"/>
          <p:cNvGrpSpPr/>
          <p:nvPr/>
        </p:nvGrpSpPr>
        <p:grpSpPr>
          <a:xfrm>
            <a:off x="3167880" y="469293"/>
            <a:ext cx="6626000" cy="666000"/>
            <a:chOff x="1476753" y="3499669"/>
            <a:chExt cx="6626000" cy="666000"/>
          </a:xfrm>
        </p:grpSpPr>
        <p:sp>
          <p:nvSpPr>
            <p:cNvPr id="312" name="Google Shape;312;p28"/>
            <p:cNvSpPr/>
            <p:nvPr/>
          </p:nvSpPr>
          <p:spPr>
            <a:xfrm>
              <a:off x="1476753" y="3499669"/>
              <a:ext cx="6626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Тестирование и качество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28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28"/>
            <p:cNvSpPr/>
            <p:nvPr/>
          </p:nvSpPr>
          <p:spPr>
            <a:xfrm flipH="1">
              <a:off x="8012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9"/>
          <p:cNvSpPr txBox="1"/>
          <p:nvPr>
            <p:ph idx="12" type="sldNum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320" name="Google Shape;320;p29"/>
          <p:cNvSpPr txBox="1"/>
          <p:nvPr>
            <p:ph idx="1" type="body"/>
          </p:nvPr>
        </p:nvSpPr>
        <p:spPr>
          <a:xfrm>
            <a:off x="387331" y="193830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76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None/>
            </a:pPr>
            <a:r>
              <a:rPr b="1" lang="ru-RU" sz="2200"/>
              <a:t>Реализовано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Полный контур обработки и прогнозирования данных о заказах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Архитектура разделяет инженерный и аналитический слои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Проект воспроизводим через Docker Compose</a:t>
            </a:r>
            <a:endParaRPr/>
          </a:p>
        </p:txBody>
      </p:sp>
      <p:sp>
        <p:nvSpPr>
          <p:cNvPr id="321" name="Google Shape;321;p29"/>
          <p:cNvSpPr txBox="1"/>
          <p:nvPr>
            <p:ph idx="2" type="body"/>
          </p:nvPr>
        </p:nvSpPr>
        <p:spPr>
          <a:xfrm>
            <a:off x="6241899" y="193830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76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None/>
            </a:pPr>
            <a:r>
              <a:rPr b="1" lang="ru-RU" sz="2200"/>
              <a:t>Развитие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Реальные источники данных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Потоковая обработка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Мониторинг DQ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BI-дашборд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0" lang="ru-RU" sz="2000"/>
              <a:t>Model serving</a:t>
            </a:r>
            <a:endParaRPr/>
          </a:p>
        </p:txBody>
      </p:sp>
      <p:sp>
        <p:nvSpPr>
          <p:cNvPr id="322" name="Google Shape;322;p29"/>
          <p:cNvSpPr txBox="1"/>
          <p:nvPr>
            <p:ph idx="3" type="body"/>
          </p:nvPr>
        </p:nvSpPr>
        <p:spPr>
          <a:xfrm>
            <a:off x="206357" y="133075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</a:pPr>
            <a:r>
              <a:rPr lang="ru-RU" sz="2600"/>
              <a:t>Источники → ETL → DWH → DQ → ML → prediction → BI mart</a:t>
            </a:r>
            <a:endParaRPr/>
          </a:p>
        </p:txBody>
      </p:sp>
      <p:grpSp>
        <p:nvGrpSpPr>
          <p:cNvPr id="323" name="Google Shape;323;p29"/>
          <p:cNvGrpSpPr/>
          <p:nvPr/>
        </p:nvGrpSpPr>
        <p:grpSpPr>
          <a:xfrm>
            <a:off x="3167880" y="469293"/>
            <a:ext cx="4792000" cy="666000"/>
            <a:chOff x="1476753" y="3499669"/>
            <a:chExt cx="4792000" cy="666000"/>
          </a:xfrm>
        </p:grpSpPr>
        <p:sp>
          <p:nvSpPr>
            <p:cNvPr id="324" name="Google Shape;324;p29"/>
            <p:cNvSpPr/>
            <p:nvPr/>
          </p:nvSpPr>
          <p:spPr>
            <a:xfrm>
              <a:off x="1476753" y="3499669"/>
              <a:ext cx="4792000" cy="666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ru-RU" spc="180" sz="2800" u="none" cap="none" strike="noStrike">
                  <a:solidFill>
                    <a:srgbClr val="065CAB"/>
                  </a:solidFill>
                  <a:latin typeface="Arial"/>
                  <a:ea typeface="Arial"/>
                  <a:cs typeface="Arial"/>
                  <a:sym typeface="Arial"/>
                </a:rPr>
                <a:t>Итоги и развитие</a:t>
              </a:r>
              <a:endParaRPr b="0" i="0" spc="18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29"/>
            <p:cNvSpPr/>
            <p:nvPr/>
          </p:nvSpPr>
          <p:spPr>
            <a:xfrm flipH="1" rot="10800000">
              <a:off x="1476754" y="3499669"/>
              <a:ext cx="7657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65CA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29"/>
            <p:cNvSpPr/>
            <p:nvPr/>
          </p:nvSpPr>
          <p:spPr>
            <a:xfrm flipH="1">
              <a:off x="6178704" y="3499669"/>
              <a:ext cx="90049" cy="666000"/>
            </a:xfrm>
            <a:custGeom>
              <a:rect b="b" l="l" r="r" t="t"/>
              <a:pathLst>
                <a:path extrusionOk="0" h="424732" w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noFill/>
            <a:ln cap="flat" cmpd="sng" w="16500">
              <a:solidFill>
                <a:srgbClr val="0046A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65CA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2500">
        <p:fade thruBlk="1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