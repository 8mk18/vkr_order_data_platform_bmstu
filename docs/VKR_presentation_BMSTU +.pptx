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embeddedFontLs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47">
          <p15:clr>
            <a:srgbClr val="000000"/>
          </p15:clr>
        </p15:guide>
        <p15:guide id="2" orient="horz" pos="1344">
          <p15:clr>
            <a:srgbClr val="A4A3A4"/>
          </p15:clr>
        </p15:guide>
        <p15:guide id="3" orient="horz" pos="9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30" y="58"/>
      </p:cViewPr>
      <p:guideLst>
        <p:guide pos="347"/>
        <p:guide orient="horz" pos="1344"/>
        <p:guide orient="horz" pos="9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-RU" sz="1100"/>
              <a:t>Место для скриншота задачи data_quality с зелёным статусом — добавить после запуска Docker.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t="16270" b="884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2"/>
          <p:cNvGrpSpPr/>
          <p:nvPr/>
        </p:nvGrpSpPr>
        <p:grpSpPr>
          <a:xfrm>
            <a:off x="694478" y="633067"/>
            <a:ext cx="9502816" cy="4706741"/>
            <a:chOff x="694478" y="633067"/>
            <a:chExt cx="9502816" cy="4706741"/>
          </a:xfrm>
        </p:grpSpPr>
        <p:pic>
          <p:nvPicPr>
            <p:cNvPr id="12" name="Google Shape;12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94481" y="633067"/>
              <a:ext cx="9502813" cy="470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3;p2"/>
            <p:cNvSpPr/>
            <p:nvPr/>
          </p:nvSpPr>
          <p:spPr>
            <a:xfrm>
              <a:off x="694478" y="5306991"/>
              <a:ext cx="9502813" cy="28800"/>
            </a:xfrm>
            <a:prstGeom prst="rect">
              <a:avLst/>
            </a:prstGeom>
            <a:solidFill>
              <a:srgbClr val="E6E7E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" name="Google Shape;1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57539" y="611835"/>
            <a:ext cx="2361600" cy="72195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078287" y="831273"/>
            <a:ext cx="9119010" cy="341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pen Sans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078286" y="4363657"/>
            <a:ext cx="9119010" cy="96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подзаголовок и объект">
  <p:cSld name="Заголовок, подзаголовок и объект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558782" y="1778092"/>
            <a:ext cx="11196533" cy="4473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2"/>
          </p:nvPr>
        </p:nvSpPr>
        <p:spPr>
          <a:xfrm>
            <a:off x="558782" y="1185979"/>
            <a:ext cx="11196533" cy="58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  <a:defRPr sz="2700">
                <a:solidFill>
                  <a:srgbClr val="F1BE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дзаголовок и Сравнение">
  <p:cSld name="Подзаголовок и Сравнение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63245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558781" y="1770664"/>
            <a:ext cx="5508000" cy="450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300"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241899" y="1770664"/>
            <a:ext cx="5508000" cy="450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300"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3"/>
          </p:nvPr>
        </p:nvSpPr>
        <p:spPr>
          <a:xfrm>
            <a:off x="558782" y="1185979"/>
            <a:ext cx="11196533" cy="58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  <a:defRPr sz="2700">
                <a:solidFill>
                  <a:srgbClr val="F1BE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крывающий слайд пустой">
  <p:cSld name="Закрывающий слайд пустой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2">
            <a:alphaModFix/>
          </a:blip>
          <a:srcRect t="16270" b="8845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5410" y="2096584"/>
            <a:ext cx="1332000" cy="13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526" y="2042584"/>
            <a:ext cx="4710383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 txBox="1"/>
          <p:nvPr/>
        </p:nvSpPr>
        <p:spPr>
          <a:xfrm>
            <a:off x="7849902" y="2522519"/>
            <a:ext cx="3048512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do.bmstu.ru</a:t>
            </a: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/>
          <p:nvPr/>
        </p:nvSpPr>
        <p:spPr>
          <a:xfrm flipH="1">
            <a:off x="10711835" y="2096584"/>
            <a:ext cx="130790" cy="1332000"/>
          </a:xfrm>
          <a:custGeom>
            <a:avLst/>
            <a:gdLst/>
            <a:ahLst/>
            <a:cxnLst/>
            <a:rect l="l" t="t" r="r" b="b"/>
            <a:pathLst>
              <a:path w="424732" h="424732" extrusionOk="0">
                <a:moveTo>
                  <a:pt x="424732" y="424732"/>
                </a:moveTo>
                <a:lnTo>
                  <a:pt x="0" y="424732"/>
                </a:lnTo>
                <a:lnTo>
                  <a:pt x="0" y="0"/>
                </a:lnTo>
                <a:lnTo>
                  <a:pt x="424732" y="0"/>
                </a:lnTo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TITLE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7"/>
          <p:cNvPicPr preferRelativeResize="0"/>
          <p:nvPr/>
        </p:nvPicPr>
        <p:blipFill rotWithShape="1">
          <a:blip r:embed="rId2">
            <a:alphaModFix/>
          </a:blip>
          <a:srcRect t="16270" b="884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" name="Google Shape;38;p7"/>
          <p:cNvGrpSpPr/>
          <p:nvPr/>
        </p:nvGrpSpPr>
        <p:grpSpPr>
          <a:xfrm>
            <a:off x="694478" y="633067"/>
            <a:ext cx="9502816" cy="4706741"/>
            <a:chOff x="694478" y="633067"/>
            <a:chExt cx="9502816" cy="4706741"/>
          </a:xfrm>
        </p:grpSpPr>
        <p:pic>
          <p:nvPicPr>
            <p:cNvPr id="39" name="Google Shape;39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94481" y="633067"/>
              <a:ext cx="9502813" cy="470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" name="Google Shape;40;p7"/>
            <p:cNvSpPr/>
            <p:nvPr/>
          </p:nvSpPr>
          <p:spPr>
            <a:xfrm>
              <a:off x="694478" y="5306991"/>
              <a:ext cx="9502813" cy="28800"/>
            </a:xfrm>
            <a:prstGeom prst="rect">
              <a:avLst/>
            </a:prstGeom>
            <a:solidFill>
              <a:srgbClr val="E6E7E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" name="Google Shape;4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57539" y="611835"/>
            <a:ext cx="2361600" cy="72195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ctrTitle"/>
          </p:nvPr>
        </p:nvSpPr>
        <p:spPr>
          <a:xfrm>
            <a:off x="1078287" y="831273"/>
            <a:ext cx="9119010" cy="341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pen Sans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1078286" y="4363657"/>
            <a:ext cx="9119010" cy="96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подзаголовок и объект">
  <p:cSld name="Заголовок, подзаголовок и объект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body" idx="1"/>
          </p:nvPr>
        </p:nvSpPr>
        <p:spPr>
          <a:xfrm>
            <a:off x="558782" y="1778092"/>
            <a:ext cx="11196533" cy="4473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2"/>
          </p:nvPr>
        </p:nvSpPr>
        <p:spPr>
          <a:xfrm>
            <a:off x="558782" y="1185979"/>
            <a:ext cx="11196533" cy="58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  <a:defRPr sz="2700">
                <a:solidFill>
                  <a:srgbClr val="F1BE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текст и объект">
  <p:cSld name="Заголовок, текст и объект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5183187" y="1301263"/>
            <a:ext cx="6735185" cy="490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rial"/>
                <a:ea typeface="Arial"/>
                <a:cs typeface="Arial"/>
                <a:sym typeface="Arial"/>
              </a:defRPr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2"/>
          </p:nvPr>
        </p:nvSpPr>
        <p:spPr>
          <a:xfrm>
            <a:off x="273628" y="1301263"/>
            <a:ext cx="4784147" cy="490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3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title"/>
          </p:nvPr>
        </p:nvSpPr>
        <p:spPr>
          <a:xfrm>
            <a:off x="273628" y="1213658"/>
            <a:ext cx="4702029" cy="84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pen Sans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1"/>
          </p:nvPr>
        </p:nvSpPr>
        <p:spPr>
          <a:xfrm>
            <a:off x="5183187" y="311727"/>
            <a:ext cx="6735185" cy="5549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body" idx="2"/>
          </p:nvPr>
        </p:nvSpPr>
        <p:spPr>
          <a:xfrm>
            <a:off x="273628" y="2057400"/>
            <a:ext cx="470202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13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322118" y="1197033"/>
            <a:ext cx="4449907" cy="860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287096" y="238509"/>
            <a:ext cx="6582785" cy="562730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804"/>
              </a:srgbClr>
            </a:outerShdw>
          </a:effectLst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322118" y="2057400"/>
            <a:ext cx="444990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13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566" y="446017"/>
            <a:ext cx="2361600" cy="72288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0566" y="1301777"/>
            <a:ext cx="11350868" cy="49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68287" y="6360806"/>
            <a:ext cx="8381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mc:AlternateContent xmlns:mc="http://schemas.openxmlformats.org/markup-compatibility/2006" xmlns:p14="http://schemas.microsoft.com/office/powerpoint/2010/main">
    <mc:Choice Requires="p14">
      <p:transition spd="slow" p14:dur="2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20566" y="446017"/>
            <a:ext cx="2361600" cy="72288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20566" y="1301777"/>
            <a:ext cx="11350868" cy="49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668287" y="6360806"/>
            <a:ext cx="8381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mc:AlternateContent xmlns:mc="http://schemas.openxmlformats.org/markup-compatibility/2006" xmlns:p14="http://schemas.microsoft.com/office/powerpoint/2010/main">
    <mc:Choice Requires="p14">
      <p:transition spd="slow" p14:dur="2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ctrTitle"/>
          </p:nvPr>
        </p:nvSpPr>
        <p:spPr>
          <a:xfrm>
            <a:off x="1078287" y="831273"/>
            <a:ext cx="9119010" cy="341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ru-RU" dirty="0">
                <a:latin typeface="Arial"/>
                <a:ea typeface="Arial"/>
                <a:cs typeface="Arial"/>
                <a:sym typeface="Arial"/>
              </a:rPr>
              <a:t>Разработка архитектуры платформы обработки и аналитики данных заказов с использованием ETL-процессов и машинного обучения</a:t>
            </a:r>
            <a:endParaRPr lang="ru-RU" dirty="0"/>
          </a:p>
        </p:txBody>
      </p:sp>
      <p:sp>
        <p:nvSpPr>
          <p:cNvPr id="71" name="Google Shape;71;p14"/>
          <p:cNvSpPr txBox="1">
            <a:spLocks noGrp="1"/>
          </p:cNvSpPr>
          <p:nvPr>
            <p:ph type="subTitle" idx="1"/>
          </p:nvPr>
        </p:nvSpPr>
        <p:spPr>
          <a:xfrm>
            <a:off x="1078275" y="4667075"/>
            <a:ext cx="9119100" cy="5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</a:pPr>
            <a:r>
              <a:rPr lang="ru-RU"/>
              <a:t>Костомарова Мария Николаевна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88477" y="1935879"/>
            <a:ext cx="11350868" cy="435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ru-RU" sz="2200"/>
              <a:t>Данные заказов находятся в разных источниках</a:t>
            </a:r>
            <a:endParaRPr/>
          </a:p>
          <a:p>
            <a:pPr marL="457200" lvl="0" indent="-38100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ru-RU" sz="2200"/>
              <a:t>Ручное объединение увеличивает время подготовки аналитики</a:t>
            </a:r>
            <a:endParaRPr/>
          </a:p>
          <a:p>
            <a:pPr marL="457200" lvl="0" indent="-38100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ru-RU" sz="2200"/>
              <a:t>Без единого DWH сложно контролировать качество и историю</a:t>
            </a:r>
            <a:endParaRPr/>
          </a:p>
          <a:p>
            <a:pPr marL="457200" lvl="0" indent="-38100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ru-RU" sz="2200"/>
              <a:t>ML позволяет добавить прогнозный контур к классической аналитике</a:t>
            </a:r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2"/>
          </p:nvPr>
        </p:nvSpPr>
        <p:spPr>
          <a:xfrm>
            <a:off x="213217" y="1333690"/>
            <a:ext cx="11350503" cy="60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</a:pPr>
            <a:r>
              <a:rPr lang="ru-RU" sz="2600"/>
              <a:t>Почему нужна единая платформа</a:t>
            </a:r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grpSp>
        <p:nvGrpSpPr>
          <p:cNvPr id="79" name="Google Shape;79;p15"/>
          <p:cNvGrpSpPr/>
          <p:nvPr/>
        </p:nvGrpSpPr>
        <p:grpSpPr>
          <a:xfrm>
            <a:off x="3167880" y="469293"/>
            <a:ext cx="3835398" cy="666000"/>
            <a:chOff x="1476753" y="3499669"/>
            <a:chExt cx="3835398" cy="666000"/>
          </a:xfrm>
        </p:grpSpPr>
        <p:sp>
          <p:nvSpPr>
            <p:cNvPr id="80" name="Google Shape;80;p15"/>
            <p:cNvSpPr/>
            <p:nvPr/>
          </p:nvSpPr>
          <p:spPr>
            <a:xfrm>
              <a:off x="1476753" y="3499669"/>
              <a:ext cx="3835398" cy="66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b="0" i="0" u="none" strike="noStrike" cap="none" spc="180">
                  <a:solidFill>
                    <a:srgbClr val="065CAB"/>
                  </a:solidFill>
                  <a:latin typeface="Arial"/>
                  <a:ea typeface="Arial"/>
                  <a:cs typeface="Arial"/>
                  <a:sym typeface="Arial"/>
                </a:rPr>
                <a:t>Актуальность</a:t>
              </a:r>
              <a:endParaRPr sz="2800" b="0" i="0" u="none" strike="noStrike" cap="none" spc="18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65C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 flipH="1">
              <a:off x="5222102" y="3499669"/>
              <a:ext cx="9004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046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6"/>
          <p:cNvGrpSpPr/>
          <p:nvPr/>
        </p:nvGrpSpPr>
        <p:grpSpPr>
          <a:xfrm>
            <a:off x="3167880" y="469293"/>
            <a:ext cx="4006000" cy="666000"/>
            <a:chOff x="1476753" y="3499669"/>
            <a:chExt cx="4006000" cy="666000"/>
          </a:xfrm>
        </p:grpSpPr>
        <p:sp>
          <p:nvSpPr>
            <p:cNvPr id="88" name="Google Shape;88;p16"/>
            <p:cNvSpPr/>
            <p:nvPr/>
          </p:nvSpPr>
          <p:spPr>
            <a:xfrm>
              <a:off x="1476753" y="3499669"/>
              <a:ext cx="4006000" cy="66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b="0" i="0" u="none" strike="noStrike" cap="none" spc="180">
                  <a:solidFill>
                    <a:srgbClr val="065CAB"/>
                  </a:solidFill>
                  <a:latin typeface="Arial"/>
                  <a:ea typeface="Arial"/>
                  <a:cs typeface="Arial"/>
                  <a:sym typeface="Arial"/>
                </a:rPr>
                <a:t>Цель и задачи</a:t>
              </a:r>
              <a:endParaRPr sz="2800" b="0" i="0" u="none" strike="noStrike" cap="none" spc="18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6"/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65C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6"/>
            <p:cNvSpPr/>
            <p:nvPr/>
          </p:nvSpPr>
          <p:spPr>
            <a:xfrm flipH="1">
              <a:off x="5392704" y="3499669"/>
              <a:ext cx="9004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046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16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1408143" y="1719562"/>
            <a:ext cx="6900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Интегрировать CSV и REST API</a:t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8474033" y="1493010"/>
            <a:ext cx="3157806" cy="4586962"/>
          </a:xfrm>
          <a:prstGeom prst="rect">
            <a:avLst/>
          </a:prstGeom>
          <a:solidFill>
            <a:srgbClr val="F1BE29"/>
          </a:solidFill>
          <a:ln>
            <a:noFill/>
          </a:ln>
        </p:spPr>
        <p:txBody>
          <a:bodyPr spcFirstLastPara="1" wrap="square" lIns="182875" tIns="182875" rIns="182875" bIns="383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Цель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ru-RU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Разработать единую платформу сбора, обработки, хранения и анализа данных о заказах</a:t>
            </a:r>
            <a:endParaRPr/>
          </a:p>
        </p:txBody>
      </p:sp>
      <p:grpSp>
        <p:nvGrpSpPr>
          <p:cNvPr id="94" name="Google Shape;94;p16"/>
          <p:cNvGrpSpPr/>
          <p:nvPr/>
        </p:nvGrpSpPr>
        <p:grpSpPr>
          <a:xfrm>
            <a:off x="558782" y="2473564"/>
            <a:ext cx="450202" cy="685765"/>
            <a:chOff x="623996" y="1592262"/>
            <a:chExt cx="333947" cy="508681"/>
          </a:xfrm>
        </p:grpSpPr>
        <p:cxnSp>
          <p:nvCxnSpPr>
            <p:cNvPr id="95" name="Google Shape;95;p16"/>
            <p:cNvCxnSpPr/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96" name="Google Shape;96;p16"/>
            <p:cNvCxnSpPr/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97" name="Google Shape;97;p16"/>
            <p:cNvCxnSpPr/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98" name="Google Shape;98;p16"/>
          <p:cNvGrpSpPr/>
          <p:nvPr/>
        </p:nvGrpSpPr>
        <p:grpSpPr>
          <a:xfrm>
            <a:off x="558782" y="3443506"/>
            <a:ext cx="450202" cy="685765"/>
            <a:chOff x="623996" y="1592262"/>
            <a:chExt cx="333947" cy="508681"/>
          </a:xfrm>
        </p:grpSpPr>
        <p:cxnSp>
          <p:nvCxnSpPr>
            <p:cNvPr id="99" name="Google Shape;99;p16"/>
            <p:cNvCxnSpPr/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00" name="Google Shape;100;p16"/>
            <p:cNvCxnSpPr/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01" name="Google Shape;101;p16"/>
            <p:cNvCxnSpPr/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102" name="Google Shape;102;p16"/>
          <p:cNvGrpSpPr/>
          <p:nvPr/>
        </p:nvGrpSpPr>
        <p:grpSpPr>
          <a:xfrm>
            <a:off x="558782" y="4413448"/>
            <a:ext cx="450202" cy="685765"/>
            <a:chOff x="623996" y="1592262"/>
            <a:chExt cx="333947" cy="508681"/>
          </a:xfrm>
        </p:grpSpPr>
        <p:cxnSp>
          <p:nvCxnSpPr>
            <p:cNvPr id="103" name="Google Shape;103;p16"/>
            <p:cNvCxnSpPr/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04" name="Google Shape;104;p16"/>
            <p:cNvCxnSpPr/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05" name="Google Shape;105;p16"/>
            <p:cNvCxnSpPr/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106" name="Google Shape;106;p16"/>
          <p:cNvGrpSpPr/>
          <p:nvPr/>
        </p:nvGrpSpPr>
        <p:grpSpPr>
          <a:xfrm>
            <a:off x="558782" y="5383390"/>
            <a:ext cx="450202" cy="685765"/>
            <a:chOff x="623996" y="1592262"/>
            <a:chExt cx="333947" cy="508681"/>
          </a:xfrm>
        </p:grpSpPr>
        <p:cxnSp>
          <p:nvCxnSpPr>
            <p:cNvPr id="107" name="Google Shape;107;p16"/>
            <p:cNvCxnSpPr/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08" name="Google Shape;108;p16"/>
            <p:cNvCxnSpPr/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09" name="Google Shape;109;p16"/>
            <p:cNvCxnSpPr/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10" name="Google Shape;110;p16"/>
          <p:cNvSpPr/>
          <p:nvPr/>
        </p:nvSpPr>
        <p:spPr>
          <a:xfrm>
            <a:off x="1408143" y="2689504"/>
            <a:ext cx="6900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Реализовать ETL и staging</a:t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843937" y="2724186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 baseline="30000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3600" b="0" i="0" u="none" strike="noStrike" cap="none" baseline="30000">
              <a:solidFill>
                <a:srgbClr val="065C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1408143" y="3659446"/>
            <a:ext cx="6900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Построить DWH по звёздной схеме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843937" y="3694128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 baseline="30000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3600" b="0" i="0" u="none" strike="noStrike" cap="none" baseline="30000">
              <a:solidFill>
                <a:srgbClr val="065C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1408143" y="4629388"/>
            <a:ext cx="6900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Реализовать DQ и ML-классификацию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843937" y="4664070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 baseline="30000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3600" b="0" i="0" u="none" strike="noStrike" cap="none" baseline="30000">
              <a:solidFill>
                <a:srgbClr val="065C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1408143" y="5599330"/>
            <a:ext cx="6900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Сформировать прогнозную витрину для BI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843937" y="5634012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 baseline="30000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3600" b="0" i="0" u="none" strike="noStrike" cap="none" baseline="30000">
              <a:solidFill>
                <a:srgbClr val="065C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6"/>
          <p:cNvGrpSpPr/>
          <p:nvPr/>
        </p:nvGrpSpPr>
        <p:grpSpPr>
          <a:xfrm>
            <a:off x="558782" y="1503622"/>
            <a:ext cx="450202" cy="685765"/>
            <a:chOff x="623996" y="1592262"/>
            <a:chExt cx="333947" cy="508681"/>
          </a:xfrm>
        </p:grpSpPr>
        <p:cxnSp>
          <p:nvCxnSpPr>
            <p:cNvPr id="119" name="Google Shape;119;p16"/>
            <p:cNvCxnSpPr/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20" name="Google Shape;120;p16"/>
            <p:cNvCxnSpPr/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21" name="Google Shape;121;p16"/>
            <p:cNvCxnSpPr/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22" name="Google Shape;122;p16"/>
          <p:cNvSpPr/>
          <p:nvPr/>
        </p:nvSpPr>
        <p:spPr>
          <a:xfrm>
            <a:off x="843937" y="1754244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 baseline="30000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3600" b="0" i="0" u="none" strike="noStrike" cap="none" baseline="30000">
              <a:solidFill>
                <a:srgbClr val="065CA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461150" y="2048680"/>
            <a:ext cx="5119700" cy="435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1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Заказ: </a:t>
            </a: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идентификатор, дата, клиент, товар, канал, количество, цена, доставка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1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Клиент: </a:t>
            </a: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сегмент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1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Товар: </a:t>
            </a: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категория и web-рейтинг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1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Целевая переменная: </a:t>
            </a: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order_status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1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Классы: </a:t>
            </a: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completed / cancelled / delayed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224647" y="1333690"/>
            <a:ext cx="7119143" cy="60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</a:pPr>
            <a:r>
              <a:rPr lang="ru-RU" sz="2600" b="0" i="0" u="none" strike="noStrike" cap="none">
                <a:solidFill>
                  <a:srgbClr val="F1BE29"/>
                </a:solidFill>
                <a:latin typeface="Arial"/>
                <a:ea typeface="Arial"/>
                <a:cs typeface="Arial"/>
                <a:sym typeface="Arial"/>
              </a:rPr>
              <a:t>Сущности и целевая переменная</a:t>
            </a:r>
            <a:endParaRPr/>
          </a:p>
        </p:txBody>
      </p:sp>
      <p:grpSp>
        <p:nvGrpSpPr>
          <p:cNvPr id="130" name="Google Shape;130;p17"/>
          <p:cNvGrpSpPr/>
          <p:nvPr/>
        </p:nvGrpSpPr>
        <p:grpSpPr>
          <a:xfrm>
            <a:off x="3167880" y="469293"/>
            <a:ext cx="7674000" cy="666000"/>
            <a:chOff x="1476753" y="3499669"/>
            <a:chExt cx="7674000" cy="666000"/>
          </a:xfrm>
        </p:grpSpPr>
        <p:sp>
          <p:nvSpPr>
            <p:cNvPr id="131" name="Google Shape;131;p17"/>
            <p:cNvSpPr/>
            <p:nvPr/>
          </p:nvSpPr>
          <p:spPr>
            <a:xfrm>
              <a:off x="1476753" y="3499669"/>
              <a:ext cx="7674000" cy="66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b="0" i="0" u="none" strike="noStrike" cap="none" spc="180">
                  <a:solidFill>
                    <a:srgbClr val="065CAB"/>
                  </a:solidFill>
                  <a:latin typeface="Arial"/>
                  <a:ea typeface="Arial"/>
                  <a:cs typeface="Arial"/>
                  <a:sym typeface="Arial"/>
                </a:rPr>
                <a:t>Предметная область и данные</a:t>
              </a:r>
              <a:endParaRPr sz="2800" b="0" i="0" u="none" strike="noStrike" cap="none" spc="18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65C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 flipH="1">
              <a:off x="9060704" y="3499669"/>
              <a:ext cx="9004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046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4" name="Google Shape;134;p17" descr="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0850" y="2490448"/>
            <a:ext cx="5900000" cy="2617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461150" y="2048680"/>
            <a:ext cx="5719700" cy="435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1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Источник 1 — CSV: </a:t>
            </a: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операционные заказы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1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Источник 2 — REST API: </a:t>
            </a: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характеристики товаров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Данные объединяются по product_id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В демонстрационном наборе: 2 000 заказов и 50 товаров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224647" y="1333690"/>
            <a:ext cx="6056203" cy="60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</a:pPr>
            <a:r>
              <a:rPr lang="ru-RU" sz="2600" b="0" i="0" u="none" strike="noStrike" cap="none">
                <a:solidFill>
                  <a:srgbClr val="F1BE29"/>
                </a:solidFill>
                <a:latin typeface="Arial"/>
                <a:ea typeface="Arial"/>
                <a:cs typeface="Arial"/>
                <a:sym typeface="Arial"/>
              </a:rPr>
              <a:t>CSV + REST API</a:t>
            </a:r>
            <a:endParaRPr/>
          </a:p>
        </p:txBody>
      </p:sp>
      <p:grpSp>
        <p:nvGrpSpPr>
          <p:cNvPr id="142" name="Google Shape;142;p18"/>
          <p:cNvGrpSpPr/>
          <p:nvPr/>
        </p:nvGrpSpPr>
        <p:grpSpPr>
          <a:xfrm>
            <a:off x="3167880" y="469293"/>
            <a:ext cx="4792000" cy="666000"/>
            <a:chOff x="1476753" y="3499669"/>
            <a:chExt cx="4792000" cy="666000"/>
          </a:xfrm>
        </p:grpSpPr>
        <p:sp>
          <p:nvSpPr>
            <p:cNvPr id="143" name="Google Shape;143;p18"/>
            <p:cNvSpPr/>
            <p:nvPr/>
          </p:nvSpPr>
          <p:spPr>
            <a:xfrm>
              <a:off x="1476753" y="3499669"/>
              <a:ext cx="4792000" cy="66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b="0" i="0" u="none" strike="noStrike" cap="none" spc="180">
                  <a:solidFill>
                    <a:srgbClr val="065CAB"/>
                  </a:solidFill>
                  <a:latin typeface="Arial"/>
                  <a:ea typeface="Arial"/>
                  <a:cs typeface="Arial"/>
                  <a:sym typeface="Arial"/>
                </a:rPr>
                <a:t>Источники данных</a:t>
              </a:r>
              <a:endParaRPr sz="2800" b="0" i="0" u="none" strike="noStrike" cap="none" spc="18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8"/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65C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 flipH="1">
              <a:off x="6178704" y="3499669"/>
              <a:ext cx="9004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046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6" name="Google Shape;146;p18" descr="image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0850" y="1468979"/>
            <a:ext cx="5300000" cy="4660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9"/>
          <p:cNvGrpSpPr/>
          <p:nvPr/>
        </p:nvGrpSpPr>
        <p:grpSpPr>
          <a:xfrm>
            <a:off x="3167880" y="469293"/>
            <a:ext cx="5578000" cy="666000"/>
            <a:chOff x="1476753" y="3499669"/>
            <a:chExt cx="5578000" cy="666000"/>
          </a:xfrm>
        </p:grpSpPr>
        <p:sp>
          <p:nvSpPr>
            <p:cNvPr id="152" name="Google Shape;152;p19"/>
            <p:cNvSpPr/>
            <p:nvPr/>
          </p:nvSpPr>
          <p:spPr>
            <a:xfrm>
              <a:off x="1476753" y="3499669"/>
              <a:ext cx="5578000" cy="66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b="0" i="0" u="none" strike="noStrike" cap="none" spc="180">
                  <a:solidFill>
                    <a:srgbClr val="065CAB"/>
                  </a:solidFill>
                  <a:latin typeface="Arial"/>
                  <a:ea typeface="Arial"/>
                  <a:cs typeface="Arial"/>
                  <a:sym typeface="Arial"/>
                </a:rPr>
                <a:t>Архитектура решения</a:t>
              </a:r>
              <a:endParaRPr sz="2800" b="0" i="0" u="none" strike="noStrike" cap="none" spc="18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65C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9"/>
            <p:cNvSpPr/>
            <p:nvPr/>
          </p:nvSpPr>
          <p:spPr>
            <a:xfrm flipH="1">
              <a:off x="6964704" y="3499669"/>
              <a:ext cx="9004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046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19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1408143" y="1719562"/>
            <a:ext cx="6900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Источники: CSV + REST API</a:t>
            </a:r>
            <a:endParaRPr/>
          </a:p>
        </p:txBody>
      </p:sp>
      <p:grpSp>
        <p:nvGrpSpPr>
          <p:cNvPr id="157" name="Google Shape;157;p19"/>
          <p:cNvGrpSpPr/>
          <p:nvPr/>
        </p:nvGrpSpPr>
        <p:grpSpPr>
          <a:xfrm>
            <a:off x="558782" y="2473564"/>
            <a:ext cx="450202" cy="685765"/>
            <a:chOff x="623996" y="1592262"/>
            <a:chExt cx="333947" cy="508681"/>
          </a:xfrm>
        </p:grpSpPr>
        <p:cxnSp>
          <p:nvCxnSpPr>
            <p:cNvPr id="158" name="Google Shape;158;p19"/>
            <p:cNvCxnSpPr/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59" name="Google Shape;159;p19"/>
            <p:cNvCxnSpPr/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60" name="Google Shape;160;p19"/>
            <p:cNvCxnSpPr/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161" name="Google Shape;161;p19"/>
          <p:cNvGrpSpPr/>
          <p:nvPr/>
        </p:nvGrpSpPr>
        <p:grpSpPr>
          <a:xfrm>
            <a:off x="558782" y="3443506"/>
            <a:ext cx="450202" cy="685765"/>
            <a:chOff x="623996" y="1592262"/>
            <a:chExt cx="333947" cy="508681"/>
          </a:xfrm>
        </p:grpSpPr>
        <p:cxnSp>
          <p:nvCxnSpPr>
            <p:cNvPr id="162" name="Google Shape;162;p19"/>
            <p:cNvCxnSpPr/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63" name="Google Shape;163;p19"/>
            <p:cNvCxnSpPr/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64" name="Google Shape;164;p19"/>
            <p:cNvCxnSpPr/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165" name="Google Shape;165;p19"/>
          <p:cNvGrpSpPr/>
          <p:nvPr/>
        </p:nvGrpSpPr>
        <p:grpSpPr>
          <a:xfrm>
            <a:off x="558782" y="4413448"/>
            <a:ext cx="450202" cy="685765"/>
            <a:chOff x="623996" y="1592262"/>
            <a:chExt cx="333947" cy="508681"/>
          </a:xfrm>
        </p:grpSpPr>
        <p:cxnSp>
          <p:nvCxnSpPr>
            <p:cNvPr id="166" name="Google Shape;166;p19"/>
            <p:cNvCxnSpPr/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67" name="Google Shape;167;p19"/>
            <p:cNvCxnSpPr/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68" name="Google Shape;168;p19"/>
            <p:cNvCxnSpPr/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169" name="Google Shape;169;p19"/>
          <p:cNvGrpSpPr/>
          <p:nvPr/>
        </p:nvGrpSpPr>
        <p:grpSpPr>
          <a:xfrm>
            <a:off x="558782" y="5383390"/>
            <a:ext cx="450202" cy="685765"/>
            <a:chOff x="623996" y="1592262"/>
            <a:chExt cx="333947" cy="508681"/>
          </a:xfrm>
        </p:grpSpPr>
        <p:cxnSp>
          <p:nvCxnSpPr>
            <p:cNvPr id="170" name="Google Shape;170;p19"/>
            <p:cNvCxnSpPr/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71" name="Google Shape;171;p19"/>
            <p:cNvCxnSpPr/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72" name="Google Shape;172;p19"/>
            <p:cNvCxnSpPr/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73" name="Google Shape;173;p19"/>
          <p:cNvSpPr/>
          <p:nvPr/>
        </p:nvSpPr>
        <p:spPr>
          <a:xfrm>
            <a:off x="1408143" y="2689504"/>
            <a:ext cx="6900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Оркестрация: Apache Airflow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843937" y="2724186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 baseline="30000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3600" b="0" i="0" u="none" strike="noStrike" cap="none" baseline="30000">
              <a:solidFill>
                <a:srgbClr val="065C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1408143" y="3659446"/>
            <a:ext cx="6900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Staging-слой в PostgreSQL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843937" y="3694128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 baseline="30000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3600" b="0" i="0" u="none" strike="noStrike" cap="none" baseline="30000">
              <a:solidFill>
                <a:srgbClr val="065C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1408143" y="4629388"/>
            <a:ext cx="6900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DWH: звёздная схема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843937" y="4664070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 baseline="30000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3600" b="0" i="0" u="none" strike="noStrike" cap="none" baseline="30000">
              <a:solidFill>
                <a:srgbClr val="065C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1408143" y="5599330"/>
            <a:ext cx="6900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ML + MLflow → prediction → mart / BI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843937" y="5634012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 baseline="30000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3600" b="0" i="0" u="none" strike="noStrike" cap="none" baseline="30000">
              <a:solidFill>
                <a:srgbClr val="065C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19"/>
          <p:cNvGrpSpPr/>
          <p:nvPr/>
        </p:nvGrpSpPr>
        <p:grpSpPr>
          <a:xfrm>
            <a:off x="558782" y="1503622"/>
            <a:ext cx="450202" cy="685765"/>
            <a:chOff x="623996" y="1592262"/>
            <a:chExt cx="333947" cy="508681"/>
          </a:xfrm>
        </p:grpSpPr>
        <p:cxnSp>
          <p:nvCxnSpPr>
            <p:cNvPr id="182" name="Google Shape;182;p19"/>
            <p:cNvCxnSpPr/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83" name="Google Shape;183;p19"/>
            <p:cNvCxnSpPr/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84" name="Google Shape;184;p19"/>
            <p:cNvCxnSpPr/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85" name="Google Shape;185;p19"/>
          <p:cNvSpPr/>
          <p:nvPr/>
        </p:nvSpPr>
        <p:spPr>
          <a:xfrm>
            <a:off x="843937" y="1754244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 baseline="30000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3600" b="0" i="0" u="none" strike="noStrike" cap="none" baseline="30000">
              <a:solidFill>
                <a:srgbClr val="065C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5850" y="2457450"/>
            <a:ext cx="510540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461150" y="2048680"/>
            <a:ext cx="5119700" cy="435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generate_sources → web_parsing → load_staging → build_dwh → data_quality → train_model → predict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Каждый этап — отдельная задача Airflow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Повторный запуск контролируется DAG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224647" y="1333690"/>
            <a:ext cx="7119143" cy="60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</a:pPr>
            <a:r>
              <a:rPr lang="ru-RU" sz="2600" b="0" i="0" u="none" strike="noStrike" cap="none">
                <a:solidFill>
                  <a:srgbClr val="F1BE29"/>
                </a:solidFill>
                <a:latin typeface="Arial"/>
                <a:ea typeface="Arial"/>
                <a:cs typeface="Arial"/>
                <a:sym typeface="Arial"/>
              </a:rPr>
              <a:t>DAG orders_end_to_end</a:t>
            </a:r>
            <a:endParaRPr/>
          </a:p>
        </p:txBody>
      </p:sp>
      <p:grpSp>
        <p:nvGrpSpPr>
          <p:cNvPr id="194" name="Google Shape;194;p20"/>
          <p:cNvGrpSpPr/>
          <p:nvPr/>
        </p:nvGrpSpPr>
        <p:grpSpPr>
          <a:xfrm>
            <a:off x="3167880" y="469293"/>
            <a:ext cx="7412000" cy="666000"/>
            <a:chOff x="1476753" y="3499669"/>
            <a:chExt cx="7412000" cy="666000"/>
          </a:xfrm>
        </p:grpSpPr>
        <p:sp>
          <p:nvSpPr>
            <p:cNvPr id="195" name="Google Shape;195;p20"/>
            <p:cNvSpPr/>
            <p:nvPr/>
          </p:nvSpPr>
          <p:spPr>
            <a:xfrm>
              <a:off x="1476753" y="3499669"/>
              <a:ext cx="7412000" cy="66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b="0" i="0" u="none" strike="noStrike" cap="none" spc="180">
                  <a:solidFill>
                    <a:srgbClr val="065CAB"/>
                  </a:solidFill>
                  <a:latin typeface="Arial"/>
                  <a:ea typeface="Arial"/>
                  <a:cs typeface="Arial"/>
                  <a:sym typeface="Arial"/>
                </a:rPr>
                <a:t>ETL-пайплайн и оркестрация</a:t>
              </a:r>
              <a:endParaRPr sz="2800" b="0" i="0" u="none" strike="noStrike" cap="none" spc="18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65C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0"/>
            <p:cNvSpPr/>
            <p:nvPr/>
          </p:nvSpPr>
          <p:spPr>
            <a:xfrm flipH="1">
              <a:off x="8798704" y="3499669"/>
              <a:ext cx="9004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046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8" name="Google Shape;198;p20" descr="image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0850" y="1984639"/>
            <a:ext cx="5900000" cy="3629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63245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204" name="Google Shape;204;p21"/>
          <p:cNvSpPr txBox="1">
            <a:spLocks noGrp="1"/>
          </p:cNvSpPr>
          <p:nvPr>
            <p:ph type="body" idx="1"/>
          </p:nvPr>
        </p:nvSpPr>
        <p:spPr>
          <a:xfrm>
            <a:off x="387331" y="1938304"/>
            <a:ext cx="5508000" cy="450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ru-RU" sz="2200" b="1"/>
              <a:t>Staging-слой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ru-RU" sz="2000" b="0"/>
              <a:t>staging.orders_raw — сырой слой заказов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ru-RU" sz="2000" b="0"/>
              <a:t>staging.web_products_raw — сырой слой API</a:t>
            </a:r>
            <a:endParaRPr/>
          </a:p>
        </p:txBody>
      </p:sp>
      <p:sp>
        <p:nvSpPr>
          <p:cNvPr id="205" name="Google Shape;205;p21"/>
          <p:cNvSpPr txBox="1">
            <a:spLocks noGrp="1"/>
          </p:cNvSpPr>
          <p:nvPr>
            <p:ph type="body" idx="2"/>
          </p:nvPr>
        </p:nvSpPr>
        <p:spPr>
          <a:xfrm>
            <a:off x="6241899" y="1938304"/>
            <a:ext cx="5508000" cy="450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ru-RU" sz="2200" b="1"/>
              <a:t>Проверки качества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ru-RU" sz="2000" b="0"/>
              <a:t>Уникальность order_id, статусы, положительные количества и цены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ru-RU" sz="2000" b="0"/>
              <a:t>Каналы, доставка, рейтинги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ru-RU" sz="2000" b="0"/>
              <a:t>Внешние ключи DWH</a:t>
            </a:r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body" idx="3"/>
          </p:nvPr>
        </p:nvSpPr>
        <p:spPr>
          <a:xfrm>
            <a:off x="206357" y="1330759"/>
            <a:ext cx="11196533" cy="58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</a:pPr>
            <a:r>
              <a:rPr lang="ru-RU" sz="2600"/>
              <a:t>Сырой слой и проверки data_quality</a:t>
            </a:r>
            <a:endParaRPr/>
          </a:p>
        </p:txBody>
      </p:sp>
      <p:grpSp>
        <p:nvGrpSpPr>
          <p:cNvPr id="207" name="Google Shape;207;p21"/>
          <p:cNvGrpSpPr/>
          <p:nvPr/>
        </p:nvGrpSpPr>
        <p:grpSpPr>
          <a:xfrm>
            <a:off x="3167880" y="469293"/>
            <a:ext cx="7674000" cy="666000"/>
            <a:chOff x="1476753" y="3499669"/>
            <a:chExt cx="7674000" cy="666000"/>
          </a:xfrm>
        </p:grpSpPr>
        <p:sp>
          <p:nvSpPr>
            <p:cNvPr id="208" name="Google Shape;208;p21"/>
            <p:cNvSpPr/>
            <p:nvPr/>
          </p:nvSpPr>
          <p:spPr>
            <a:xfrm>
              <a:off x="1476753" y="3499669"/>
              <a:ext cx="7674000" cy="66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b="0" i="0" u="none" strike="noStrike" cap="none" spc="180">
                  <a:solidFill>
                    <a:srgbClr val="065CAB"/>
                  </a:solidFill>
                  <a:latin typeface="Arial"/>
                  <a:ea typeface="Arial"/>
                  <a:cs typeface="Arial"/>
                  <a:sym typeface="Arial"/>
                </a:rPr>
                <a:t>Staging и контроль качества</a:t>
              </a:r>
              <a:endParaRPr sz="2800" b="0" i="0" u="none" strike="noStrike" cap="none" spc="18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1"/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65C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1"/>
            <p:cNvSpPr/>
            <p:nvPr/>
          </p:nvSpPr>
          <p:spPr>
            <a:xfrm flipH="1">
              <a:off x="9060704" y="3499669"/>
              <a:ext cx="9004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046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grpSp>
        <p:nvGrpSpPr>
          <p:cNvPr id="216" name="Google Shape;216;p22"/>
          <p:cNvGrpSpPr/>
          <p:nvPr/>
        </p:nvGrpSpPr>
        <p:grpSpPr>
          <a:xfrm>
            <a:off x="3167880" y="469293"/>
            <a:ext cx="5578000" cy="666000"/>
            <a:chOff x="1476753" y="3499669"/>
            <a:chExt cx="5578000" cy="666000"/>
          </a:xfrm>
        </p:grpSpPr>
        <p:sp>
          <p:nvSpPr>
            <p:cNvPr id="217" name="Google Shape;217;p22"/>
            <p:cNvSpPr/>
            <p:nvPr/>
          </p:nvSpPr>
          <p:spPr>
            <a:xfrm>
              <a:off x="1476753" y="3499669"/>
              <a:ext cx="5578000" cy="66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b="0" i="0" u="none" strike="noStrike" cap="none" spc="180">
                  <a:solidFill>
                    <a:srgbClr val="065CAB"/>
                  </a:solidFill>
                  <a:latin typeface="Arial"/>
                  <a:ea typeface="Arial"/>
                  <a:cs typeface="Arial"/>
                  <a:sym typeface="Arial"/>
                </a:rPr>
                <a:t>DWH: звёздная схема</a:t>
              </a:r>
              <a:endParaRPr sz="2800" b="0" i="0" u="none" strike="noStrike" cap="none" spc="18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2"/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65C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2"/>
            <p:cNvSpPr/>
            <p:nvPr/>
          </p:nvSpPr>
          <p:spPr>
            <a:xfrm flipH="1">
              <a:off x="6964704" y="3499669"/>
              <a:ext cx="9004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046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20" name="Google Shape;220;p22" descr="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8105" y="1300000"/>
            <a:ext cx="8555789" cy="5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461150" y="2048680"/>
            <a:ext cx="5119700" cy="435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1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Алгоритм: </a:t>
            </a: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1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Предобработка категориальных признаков: </a:t>
            </a: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OneHotEncoder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1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Разбиение: </a:t>
            </a: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80% train / 20% test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Признаки не содержат target order_status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1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Результат: </a:t>
            </a: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класс + вероятность класса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224647" y="1333690"/>
            <a:ext cx="5456203" cy="60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</a:pPr>
            <a:r>
              <a:rPr lang="ru-RU" sz="2600" b="0" i="0" u="none" strike="noStrike" cap="none">
                <a:solidFill>
                  <a:srgbClr val="F1BE29"/>
                </a:solidFill>
                <a:latin typeface="Arial"/>
                <a:ea typeface="Arial"/>
                <a:cs typeface="Arial"/>
                <a:sym typeface="Arial"/>
              </a:rPr>
              <a:t>Классификация статуса заказа</a:t>
            </a:r>
            <a:endParaRPr/>
          </a:p>
        </p:txBody>
      </p:sp>
      <p:grpSp>
        <p:nvGrpSpPr>
          <p:cNvPr id="228" name="Google Shape;228;p23"/>
          <p:cNvGrpSpPr/>
          <p:nvPr/>
        </p:nvGrpSpPr>
        <p:grpSpPr>
          <a:xfrm>
            <a:off x="3167880" y="469293"/>
            <a:ext cx="5054000" cy="666000"/>
            <a:chOff x="1476753" y="3499669"/>
            <a:chExt cx="5054000" cy="666000"/>
          </a:xfrm>
        </p:grpSpPr>
        <p:sp>
          <p:nvSpPr>
            <p:cNvPr id="229" name="Google Shape;229;p23"/>
            <p:cNvSpPr/>
            <p:nvPr/>
          </p:nvSpPr>
          <p:spPr>
            <a:xfrm>
              <a:off x="1476753" y="3499669"/>
              <a:ext cx="5054000" cy="66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b="0" i="0" u="none" strike="noStrike" cap="none" spc="180">
                  <a:solidFill>
                    <a:srgbClr val="065CAB"/>
                  </a:solidFill>
                  <a:latin typeface="Arial"/>
                  <a:ea typeface="Arial"/>
                  <a:cs typeface="Arial"/>
                  <a:sym typeface="Arial"/>
                </a:rPr>
                <a:t>Машинное обучение</a:t>
              </a:r>
              <a:endParaRPr sz="2800" b="0" i="0" u="none" strike="noStrike" cap="none" spc="18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3"/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65C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3"/>
            <p:cNvSpPr/>
            <p:nvPr/>
          </p:nvSpPr>
          <p:spPr>
            <a:xfrm flipH="1">
              <a:off x="6440704" y="3499669"/>
              <a:ext cx="9004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046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2" name="Google Shape;232;p23" descr="image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0850" y="1586808"/>
            <a:ext cx="5900000" cy="44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461150" y="2048675"/>
            <a:ext cx="10608300" cy="4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2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Фиксируются параметры модели и Accuracy/F1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2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Сохраняются артефакты модели и test index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2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Prediction использует ссылку на конкретный run, с локальным fallback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224647" y="1333690"/>
            <a:ext cx="7119143" cy="60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</a:pPr>
            <a:r>
              <a:rPr lang="ru-RU" sz="2600" b="0" i="0" u="none" strike="noStrike" cap="none">
                <a:solidFill>
                  <a:srgbClr val="F1BE29"/>
                </a:solidFill>
                <a:latin typeface="Arial"/>
                <a:ea typeface="Arial"/>
                <a:cs typeface="Arial"/>
                <a:sym typeface="Arial"/>
              </a:rPr>
              <a:t>Experiment: order_status_classification</a:t>
            </a:r>
            <a:endParaRPr/>
          </a:p>
        </p:txBody>
      </p:sp>
      <p:grpSp>
        <p:nvGrpSpPr>
          <p:cNvPr id="240" name="Google Shape;240;p24"/>
          <p:cNvGrpSpPr/>
          <p:nvPr/>
        </p:nvGrpSpPr>
        <p:grpSpPr>
          <a:xfrm>
            <a:off x="3167880" y="469293"/>
            <a:ext cx="7412000" cy="666000"/>
            <a:chOff x="1476753" y="3499669"/>
            <a:chExt cx="7412000" cy="666000"/>
          </a:xfrm>
        </p:grpSpPr>
        <p:sp>
          <p:nvSpPr>
            <p:cNvPr id="241" name="Google Shape;241;p24"/>
            <p:cNvSpPr/>
            <p:nvPr/>
          </p:nvSpPr>
          <p:spPr>
            <a:xfrm>
              <a:off x="1476753" y="3499669"/>
              <a:ext cx="7412000" cy="66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b="0" i="0" u="none" strike="noStrike" cap="none" spc="180">
                  <a:solidFill>
                    <a:srgbClr val="065CAB"/>
                  </a:solidFill>
                  <a:latin typeface="Arial"/>
                  <a:ea typeface="Arial"/>
                  <a:cs typeface="Arial"/>
                  <a:sym typeface="Arial"/>
                </a:rPr>
                <a:t>MLflow и воспроизводимость</a:t>
              </a:r>
              <a:endParaRPr sz="2800" b="0" i="0" u="none" strike="noStrike" cap="none" spc="18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4"/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65C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4"/>
            <p:cNvSpPr/>
            <p:nvPr/>
          </p:nvSpPr>
          <p:spPr>
            <a:xfrm flipH="1">
              <a:off x="8798704" y="3499669"/>
              <a:ext cx="9004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046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4" name="Google Shape;2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8588" y="4108894"/>
            <a:ext cx="4434826" cy="1873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5"/>
          <p:cNvGrpSpPr/>
          <p:nvPr/>
        </p:nvGrpSpPr>
        <p:grpSpPr>
          <a:xfrm>
            <a:off x="3167880" y="469293"/>
            <a:ext cx="5054000" cy="666000"/>
            <a:chOff x="1476753" y="3499669"/>
            <a:chExt cx="5054000" cy="666000"/>
          </a:xfrm>
        </p:grpSpPr>
        <p:sp>
          <p:nvSpPr>
            <p:cNvPr id="250" name="Google Shape;250;p25"/>
            <p:cNvSpPr/>
            <p:nvPr/>
          </p:nvSpPr>
          <p:spPr>
            <a:xfrm>
              <a:off x="1476753" y="3499669"/>
              <a:ext cx="5054000" cy="66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b="0" i="0" u="none" strike="noStrike" cap="none" spc="180">
                  <a:solidFill>
                    <a:srgbClr val="065CAB"/>
                  </a:solidFill>
                  <a:latin typeface="Arial"/>
                  <a:ea typeface="Arial"/>
                  <a:cs typeface="Arial"/>
                  <a:sym typeface="Arial"/>
                </a:rPr>
                <a:t>Прогнозный контур</a:t>
              </a:r>
              <a:endParaRPr sz="2800" b="0" i="0" u="none" strike="noStrike" cap="none" spc="18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5"/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65C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5"/>
            <p:cNvSpPr/>
            <p:nvPr/>
          </p:nvSpPr>
          <p:spPr>
            <a:xfrm flipH="1">
              <a:off x="6440704" y="3499669"/>
              <a:ext cx="9004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046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p25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1408143" y="1719562"/>
            <a:ext cx="6900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Модель получает признаки из mart.v_order_dashboard</a:t>
            </a:r>
            <a:endParaRPr/>
          </a:p>
        </p:txBody>
      </p:sp>
      <p:grpSp>
        <p:nvGrpSpPr>
          <p:cNvPr id="255" name="Google Shape;255;p25"/>
          <p:cNvGrpSpPr/>
          <p:nvPr/>
        </p:nvGrpSpPr>
        <p:grpSpPr>
          <a:xfrm>
            <a:off x="558782" y="2796879"/>
            <a:ext cx="450202" cy="685765"/>
            <a:chOff x="623996" y="1592262"/>
            <a:chExt cx="333947" cy="508681"/>
          </a:xfrm>
        </p:grpSpPr>
        <p:cxnSp>
          <p:nvCxnSpPr>
            <p:cNvPr id="256" name="Google Shape;256;p25"/>
            <p:cNvCxnSpPr/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57" name="Google Shape;257;p25"/>
            <p:cNvCxnSpPr/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58" name="Google Shape;258;p25"/>
            <p:cNvCxnSpPr/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259" name="Google Shape;259;p25"/>
          <p:cNvGrpSpPr/>
          <p:nvPr/>
        </p:nvGrpSpPr>
        <p:grpSpPr>
          <a:xfrm>
            <a:off x="558782" y="4090136"/>
            <a:ext cx="450202" cy="685765"/>
            <a:chOff x="623996" y="1592262"/>
            <a:chExt cx="333947" cy="508681"/>
          </a:xfrm>
        </p:grpSpPr>
        <p:cxnSp>
          <p:nvCxnSpPr>
            <p:cNvPr id="260" name="Google Shape;260;p25"/>
            <p:cNvCxnSpPr/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61" name="Google Shape;261;p25"/>
            <p:cNvCxnSpPr/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62" name="Google Shape;262;p25"/>
            <p:cNvCxnSpPr/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263" name="Google Shape;263;p25"/>
          <p:cNvGrpSpPr/>
          <p:nvPr/>
        </p:nvGrpSpPr>
        <p:grpSpPr>
          <a:xfrm>
            <a:off x="558782" y="5383393"/>
            <a:ext cx="450202" cy="685765"/>
            <a:chOff x="623996" y="1592262"/>
            <a:chExt cx="333947" cy="508681"/>
          </a:xfrm>
        </p:grpSpPr>
        <p:cxnSp>
          <p:nvCxnSpPr>
            <p:cNvPr id="264" name="Google Shape;264;p25"/>
            <p:cNvCxnSpPr/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65" name="Google Shape;265;p25"/>
            <p:cNvCxnSpPr/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66" name="Google Shape;266;p25"/>
            <p:cNvCxnSpPr/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267" name="Google Shape;267;p25"/>
          <p:cNvSpPr/>
          <p:nvPr/>
        </p:nvSpPr>
        <p:spPr>
          <a:xfrm>
            <a:off x="1408143" y="3012819"/>
            <a:ext cx="6900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Для каждого заказа рассчитывается predicted_status</a:t>
            </a:r>
            <a:endParaRPr/>
          </a:p>
        </p:txBody>
      </p:sp>
      <p:sp>
        <p:nvSpPr>
          <p:cNvPr id="268" name="Google Shape;268;p25"/>
          <p:cNvSpPr/>
          <p:nvPr/>
        </p:nvSpPr>
        <p:spPr>
          <a:xfrm>
            <a:off x="843937" y="3047501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 baseline="30000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3600" b="0" i="0" u="none" strike="noStrike" cap="none" baseline="30000">
              <a:solidFill>
                <a:srgbClr val="065C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1408143" y="4306076"/>
            <a:ext cx="6900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Сохраняется probability наиболее вероятного класса</a:t>
            </a:r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843937" y="4340758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 baseline="30000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3600" b="0" i="0" u="none" strike="noStrike" cap="none" baseline="30000">
              <a:solidFill>
                <a:srgbClr val="065C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1408143" y="5599333"/>
            <a:ext cx="6900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Результат записывается в mart.order_predictions</a:t>
            </a:r>
            <a:endParaRPr/>
          </a:p>
        </p:txBody>
      </p:sp>
      <p:sp>
        <p:nvSpPr>
          <p:cNvPr id="272" name="Google Shape;272;p25"/>
          <p:cNvSpPr/>
          <p:nvPr/>
        </p:nvSpPr>
        <p:spPr>
          <a:xfrm>
            <a:off x="843937" y="5634015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 baseline="30000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3600" b="0" i="0" u="none" strike="noStrike" cap="none" baseline="30000">
              <a:solidFill>
                <a:srgbClr val="065C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3" name="Google Shape;273;p25"/>
          <p:cNvGrpSpPr/>
          <p:nvPr/>
        </p:nvGrpSpPr>
        <p:grpSpPr>
          <a:xfrm>
            <a:off x="558782" y="1503622"/>
            <a:ext cx="450202" cy="685765"/>
            <a:chOff x="623996" y="1592262"/>
            <a:chExt cx="333947" cy="508681"/>
          </a:xfrm>
        </p:grpSpPr>
        <p:cxnSp>
          <p:nvCxnSpPr>
            <p:cNvPr id="274" name="Google Shape;274;p25"/>
            <p:cNvCxnSpPr/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75" name="Google Shape;275;p25"/>
            <p:cNvCxnSpPr/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76" name="Google Shape;276;p25"/>
            <p:cNvCxnSpPr/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277" name="Google Shape;277;p25"/>
          <p:cNvSpPr/>
          <p:nvPr/>
        </p:nvSpPr>
        <p:spPr>
          <a:xfrm>
            <a:off x="843937" y="1754244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 baseline="30000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3600" b="0" i="0" u="none" strike="noStrike" cap="none" baseline="30000">
              <a:solidFill>
                <a:srgbClr val="065CA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>
            <a:spLocks noGrp="1"/>
          </p:cNvSpPr>
          <p:nvPr>
            <p:ph type="body" idx="1"/>
          </p:nvPr>
        </p:nvSpPr>
        <p:spPr>
          <a:xfrm>
            <a:off x="971561" y="4634530"/>
            <a:ext cx="10823324" cy="121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</a:pPr>
            <a:r>
              <a:rPr lang="ru-RU" sz="2000" b="1"/>
              <a:t>mart.v_order_dashboard объединяет факт и измерения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83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</a:pPr>
            <a:r>
              <a:rPr lang="ru-RU" sz="1800"/>
              <a:t>Витрина содержит дату, статус, сумму, доставку, количество, сегмент, оплату, канал, категорию и рейтинг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83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</a:pPr>
            <a:r>
              <a:rPr lang="ru-RU" sz="1800"/>
              <a:t>Предназначена для подключения BI</a:t>
            </a:r>
            <a:endParaRPr/>
          </a:p>
        </p:txBody>
      </p:sp>
      <p:sp>
        <p:nvSpPr>
          <p:cNvPr id="283" name="Google Shape;283;p26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  <p:cxnSp>
        <p:nvCxnSpPr>
          <p:cNvPr id="284" name="Google Shape;284;p26"/>
          <p:cNvCxnSpPr/>
          <p:nvPr/>
        </p:nvCxnSpPr>
        <p:spPr>
          <a:xfrm>
            <a:off x="558782" y="4362887"/>
            <a:ext cx="0" cy="1753829"/>
          </a:xfrm>
          <a:prstGeom prst="straightConnector1">
            <a:avLst/>
          </a:prstGeom>
          <a:noFill/>
          <a:ln w="28575" cap="flat" cmpd="sng">
            <a:solidFill>
              <a:srgbClr val="065CAB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85" name="Google Shape;285;p26"/>
          <p:cNvCxnSpPr/>
          <p:nvPr/>
        </p:nvCxnSpPr>
        <p:spPr>
          <a:xfrm rot="10800000" flipH="1">
            <a:off x="559293" y="6095533"/>
            <a:ext cx="825048" cy="21183"/>
          </a:xfrm>
          <a:prstGeom prst="straightConnector1">
            <a:avLst/>
          </a:prstGeom>
          <a:noFill/>
          <a:ln w="28575" cap="flat" cmpd="sng">
            <a:solidFill>
              <a:srgbClr val="065CAB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86" name="Google Shape;286;p26"/>
          <p:cNvCxnSpPr/>
          <p:nvPr/>
        </p:nvCxnSpPr>
        <p:spPr>
          <a:xfrm>
            <a:off x="558782" y="4362887"/>
            <a:ext cx="825559" cy="0"/>
          </a:xfrm>
          <a:prstGeom prst="straightConnector1">
            <a:avLst/>
          </a:prstGeom>
          <a:noFill/>
          <a:ln w="28575" cap="flat" cmpd="sng">
            <a:solidFill>
              <a:srgbClr val="065CAB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287" name="Google Shape;287;p26"/>
          <p:cNvGrpSpPr/>
          <p:nvPr/>
        </p:nvGrpSpPr>
        <p:grpSpPr>
          <a:xfrm>
            <a:off x="3167880" y="469293"/>
            <a:ext cx="6102000" cy="666000"/>
            <a:chOff x="1476753" y="3499669"/>
            <a:chExt cx="6102000" cy="666000"/>
          </a:xfrm>
        </p:grpSpPr>
        <p:sp>
          <p:nvSpPr>
            <p:cNvPr id="288" name="Google Shape;288;p26"/>
            <p:cNvSpPr/>
            <p:nvPr/>
          </p:nvSpPr>
          <p:spPr>
            <a:xfrm>
              <a:off x="1476753" y="3499669"/>
              <a:ext cx="6102000" cy="66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b="0" i="0" u="none" strike="noStrike" cap="none" spc="180">
                  <a:solidFill>
                    <a:srgbClr val="065CAB"/>
                  </a:solidFill>
                  <a:latin typeface="Arial"/>
                  <a:ea typeface="Arial"/>
                  <a:cs typeface="Arial"/>
                  <a:sym typeface="Arial"/>
                </a:rPr>
                <a:t>Аналитическая витрина</a:t>
              </a:r>
              <a:endParaRPr sz="2800" b="0" i="0" u="none" strike="noStrike" cap="none" spc="18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6"/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65C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6"/>
            <p:cNvSpPr/>
            <p:nvPr/>
          </p:nvSpPr>
          <p:spPr>
            <a:xfrm flipH="1">
              <a:off x="7488704" y="3499669"/>
              <a:ext cx="9004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046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1" name="Google Shape;291;p26" descr="image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2667" y="1350000"/>
            <a:ext cx="5066666" cy="28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  <p:sp>
        <p:nvSpPr>
          <p:cNvPr id="297" name="Google Shape;297;p27"/>
          <p:cNvSpPr txBox="1"/>
          <p:nvPr/>
        </p:nvSpPr>
        <p:spPr>
          <a:xfrm>
            <a:off x="461150" y="2048680"/>
            <a:ext cx="5119700" cy="435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1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Локальная проверка ML в текущей среде: </a:t>
            </a: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Accuracy 0.8925, F1 weighted 0.8631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1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Ранее зафиксированный результат Docker-стенда: </a:t>
            </a: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Accuracy 0.8975, F1 weighted 0.8695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000" b="0" i="0" u="none" strike="noStrike" cap="non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На защите показываются метрики фактического запуска MLflow</a:t>
            </a:r>
            <a:endParaRPr/>
          </a:p>
        </p:txBody>
      </p:sp>
      <p:sp>
        <p:nvSpPr>
          <p:cNvPr id="298" name="Google Shape;298;p27"/>
          <p:cNvSpPr txBox="1"/>
          <p:nvPr/>
        </p:nvSpPr>
        <p:spPr>
          <a:xfrm>
            <a:off x="224647" y="1333690"/>
            <a:ext cx="7119143" cy="60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</a:pPr>
            <a:r>
              <a:rPr lang="ru-RU" sz="2600" b="0" i="0" u="none" strike="noStrike" cap="none">
                <a:solidFill>
                  <a:srgbClr val="F1BE29"/>
                </a:solidFill>
                <a:latin typeface="Arial"/>
                <a:ea typeface="Arial"/>
                <a:cs typeface="Arial"/>
                <a:sym typeface="Arial"/>
              </a:rPr>
              <a:t>2 000 заказов • 1 600 train • 400 test</a:t>
            </a:r>
            <a:endParaRPr/>
          </a:p>
        </p:txBody>
      </p:sp>
      <p:grpSp>
        <p:nvGrpSpPr>
          <p:cNvPr id="299" name="Google Shape;299;p27"/>
          <p:cNvGrpSpPr/>
          <p:nvPr/>
        </p:nvGrpSpPr>
        <p:grpSpPr>
          <a:xfrm>
            <a:off x="3167880" y="469293"/>
            <a:ext cx="8198000" cy="666000"/>
            <a:chOff x="1476753" y="3499669"/>
            <a:chExt cx="8198000" cy="666000"/>
          </a:xfrm>
        </p:grpSpPr>
        <p:sp>
          <p:nvSpPr>
            <p:cNvPr id="300" name="Google Shape;300;p27"/>
            <p:cNvSpPr/>
            <p:nvPr/>
          </p:nvSpPr>
          <p:spPr>
            <a:xfrm>
              <a:off x="1476753" y="3499669"/>
              <a:ext cx="8198000" cy="66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b="0" i="0" u="none" strike="noStrike" cap="none" spc="180">
                  <a:solidFill>
                    <a:srgbClr val="065CAB"/>
                  </a:solidFill>
                  <a:latin typeface="Arial"/>
                  <a:ea typeface="Arial"/>
                  <a:cs typeface="Arial"/>
                  <a:sym typeface="Arial"/>
                </a:rPr>
                <a:t>Результаты на тестовом наборе</a:t>
              </a:r>
              <a:endParaRPr sz="2800" b="0" i="0" u="none" strike="noStrike" cap="none" spc="18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7"/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65C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7"/>
            <p:cNvSpPr/>
            <p:nvPr/>
          </p:nvSpPr>
          <p:spPr>
            <a:xfrm flipH="1">
              <a:off x="9584704" y="3499669"/>
              <a:ext cx="9004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046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3" name="Google Shape;303;p27" descr="image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0850" y="2139933"/>
            <a:ext cx="5900000" cy="331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"/>
          <p:cNvSpPr txBox="1">
            <a:spLocks noGrp="1"/>
          </p:cNvSpPr>
          <p:nvPr>
            <p:ph type="body" idx="1"/>
          </p:nvPr>
        </p:nvSpPr>
        <p:spPr>
          <a:xfrm>
            <a:off x="388477" y="1935879"/>
            <a:ext cx="11350868" cy="435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ru-RU" sz="2200"/>
              <a:t>Проверены:</a:t>
            </a:r>
            <a:endParaRPr/>
          </a:p>
          <a:p>
            <a:pPr marL="5334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ru-RU" sz="2200"/>
              <a:t>структура и объём источников</a:t>
            </a:r>
            <a:endParaRPr/>
          </a:p>
          <a:p>
            <a:pPr marL="5334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ru-RU" sz="2200"/>
              <a:t>уникальность ID</a:t>
            </a:r>
            <a:endParaRPr/>
          </a:p>
          <a:p>
            <a:pPr marL="5334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ru-RU" sz="2200"/>
              <a:t>SQL DWH / mart</a:t>
            </a:r>
            <a:endParaRPr/>
          </a:p>
          <a:p>
            <a:pPr marL="5334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ru-RU" sz="2200"/>
              <a:t>порядок задач DAG</a:t>
            </a:r>
            <a:endParaRPr/>
          </a:p>
          <a:p>
            <a:pPr marL="5334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ru-RU" sz="2200"/>
              <a:t>наличие ML-артефактов</a:t>
            </a:r>
            <a:endParaRPr/>
          </a:p>
          <a:p>
            <a:pPr marL="7620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rPr lang="ru-RU" sz="2200"/>
              <a:t>Docker-интеграционный прогон не выполнялся в среде проверки, поскольку Docker Engine недоступен</a:t>
            </a:r>
            <a:endParaRPr/>
          </a:p>
        </p:txBody>
      </p:sp>
      <p:sp>
        <p:nvSpPr>
          <p:cNvPr id="309" name="Google Shape;309;p28"/>
          <p:cNvSpPr txBox="1">
            <a:spLocks noGrp="1"/>
          </p:cNvSpPr>
          <p:nvPr>
            <p:ph type="body" idx="2"/>
          </p:nvPr>
        </p:nvSpPr>
        <p:spPr>
          <a:xfrm>
            <a:off x="213217" y="1333690"/>
            <a:ext cx="11350503" cy="60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</a:pPr>
            <a:r>
              <a:rPr lang="ru-RU" sz="2600"/>
              <a:t>Автотесты проекта: 9 passed, 1 skipped в текущей среде</a:t>
            </a:r>
            <a:endParaRPr/>
          </a:p>
        </p:txBody>
      </p:sp>
      <p:sp>
        <p:nvSpPr>
          <p:cNvPr id="310" name="Google Shape;310;p28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  <p:grpSp>
        <p:nvGrpSpPr>
          <p:cNvPr id="311" name="Google Shape;311;p28"/>
          <p:cNvGrpSpPr/>
          <p:nvPr/>
        </p:nvGrpSpPr>
        <p:grpSpPr>
          <a:xfrm>
            <a:off x="3167880" y="469293"/>
            <a:ext cx="6626000" cy="666000"/>
            <a:chOff x="1476753" y="3499669"/>
            <a:chExt cx="6626000" cy="666000"/>
          </a:xfrm>
        </p:grpSpPr>
        <p:sp>
          <p:nvSpPr>
            <p:cNvPr id="312" name="Google Shape;312;p28"/>
            <p:cNvSpPr/>
            <p:nvPr/>
          </p:nvSpPr>
          <p:spPr>
            <a:xfrm>
              <a:off x="1476753" y="3499669"/>
              <a:ext cx="6626000" cy="66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b="0" i="0" u="none" strike="noStrike" cap="none" spc="180">
                  <a:solidFill>
                    <a:srgbClr val="065CAB"/>
                  </a:solidFill>
                  <a:latin typeface="Arial"/>
                  <a:ea typeface="Arial"/>
                  <a:cs typeface="Arial"/>
                  <a:sym typeface="Arial"/>
                </a:rPr>
                <a:t>Тестирование и качество</a:t>
              </a:r>
              <a:endParaRPr sz="2800" b="0" i="0" u="none" strike="noStrike" cap="none" spc="18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8"/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65C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8"/>
            <p:cNvSpPr/>
            <p:nvPr/>
          </p:nvSpPr>
          <p:spPr>
            <a:xfrm flipH="1">
              <a:off x="8012704" y="3499669"/>
              <a:ext cx="9004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046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63245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  <p:sp>
        <p:nvSpPr>
          <p:cNvPr id="320" name="Google Shape;320;p29"/>
          <p:cNvSpPr txBox="1">
            <a:spLocks noGrp="1"/>
          </p:cNvSpPr>
          <p:nvPr>
            <p:ph type="body" idx="1"/>
          </p:nvPr>
        </p:nvSpPr>
        <p:spPr>
          <a:xfrm>
            <a:off x="387331" y="1938304"/>
            <a:ext cx="5508000" cy="450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ru-RU" sz="2200" b="1"/>
              <a:t>Реализовано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ru-RU" sz="2000" b="0"/>
              <a:t>Полный контур обработки и прогнозирования данных о заказах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ru-RU" sz="2000" b="0"/>
              <a:t>Архитектура разделяет инженерный и аналитический слои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ru-RU" sz="2000" b="0"/>
              <a:t>Проект воспроизводим через Docker Compose</a:t>
            </a:r>
            <a:endParaRPr/>
          </a:p>
        </p:txBody>
      </p:sp>
      <p:sp>
        <p:nvSpPr>
          <p:cNvPr id="321" name="Google Shape;321;p29"/>
          <p:cNvSpPr txBox="1">
            <a:spLocks noGrp="1"/>
          </p:cNvSpPr>
          <p:nvPr>
            <p:ph type="body" idx="2"/>
          </p:nvPr>
        </p:nvSpPr>
        <p:spPr>
          <a:xfrm>
            <a:off x="6241899" y="1938304"/>
            <a:ext cx="5508000" cy="450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ru-RU" sz="2200" b="1"/>
              <a:t>Развитие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ru-RU" sz="2000" b="0"/>
              <a:t>Реальные источники данных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ru-RU" sz="2000" b="0"/>
              <a:t>Потоковая обработка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ru-RU" sz="2000" b="0"/>
              <a:t>Мониторинг DQ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ru-RU" sz="2000" b="0"/>
              <a:t>BI-дашборд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ru-RU" sz="2000" b="0"/>
              <a:t>Model serving</a:t>
            </a:r>
            <a:endParaRPr/>
          </a:p>
        </p:txBody>
      </p:sp>
      <p:sp>
        <p:nvSpPr>
          <p:cNvPr id="322" name="Google Shape;322;p29"/>
          <p:cNvSpPr txBox="1">
            <a:spLocks noGrp="1"/>
          </p:cNvSpPr>
          <p:nvPr>
            <p:ph type="body" idx="3"/>
          </p:nvPr>
        </p:nvSpPr>
        <p:spPr>
          <a:xfrm>
            <a:off x="206357" y="1330759"/>
            <a:ext cx="11196533" cy="58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</a:pPr>
            <a:r>
              <a:rPr lang="ru-RU" sz="2600"/>
              <a:t>Источники → ETL → DWH → DQ → ML → prediction → BI mart</a:t>
            </a:r>
            <a:endParaRPr/>
          </a:p>
        </p:txBody>
      </p:sp>
      <p:grpSp>
        <p:nvGrpSpPr>
          <p:cNvPr id="323" name="Google Shape;323;p29"/>
          <p:cNvGrpSpPr/>
          <p:nvPr/>
        </p:nvGrpSpPr>
        <p:grpSpPr>
          <a:xfrm>
            <a:off x="3167880" y="469293"/>
            <a:ext cx="4792000" cy="666000"/>
            <a:chOff x="1476753" y="3499669"/>
            <a:chExt cx="4792000" cy="666000"/>
          </a:xfrm>
        </p:grpSpPr>
        <p:sp>
          <p:nvSpPr>
            <p:cNvPr id="324" name="Google Shape;324;p29"/>
            <p:cNvSpPr/>
            <p:nvPr/>
          </p:nvSpPr>
          <p:spPr>
            <a:xfrm>
              <a:off x="1476753" y="3499669"/>
              <a:ext cx="4792000" cy="66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b="0" i="0" u="none" strike="noStrike" cap="none" spc="180">
                  <a:solidFill>
                    <a:srgbClr val="065CAB"/>
                  </a:solidFill>
                  <a:latin typeface="Arial"/>
                  <a:ea typeface="Arial"/>
                  <a:cs typeface="Arial"/>
                  <a:sym typeface="Arial"/>
                </a:rPr>
                <a:t>Итоги и развитие</a:t>
              </a:r>
              <a:endParaRPr sz="2800" b="0" i="0" u="none" strike="noStrike" cap="none" spc="18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9"/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65C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9"/>
            <p:cNvSpPr/>
            <p:nvPr/>
          </p:nvSpPr>
          <p:spPr>
            <a:xfrm flipH="1">
              <a:off x="6178704" y="3499669"/>
              <a:ext cx="90049" cy="666000"/>
            </a:xfrm>
            <a:custGeom>
              <a:avLst/>
              <a:gdLst/>
              <a:ahLst/>
              <a:cxnLst/>
              <a:rect l="l" t="t" r="r" b="b"/>
              <a:pathLst>
                <a:path w="424732" h="424732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noFill/>
            <a:ln w="16500" cap="flat" cmpd="sng">
              <a:solidFill>
                <a:srgbClr val="0046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65CA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If,kjyVUNE_28012021">
  <a:themeElements>
    <a:clrScheme name="МГТУ10128">
      <a:dk1>
        <a:srgbClr val="000000"/>
      </a:dk1>
      <a:lt1>
        <a:srgbClr val="FFFFFF"/>
      </a:lt1>
      <a:dk2>
        <a:srgbClr val="062646"/>
      </a:dk2>
      <a:lt2>
        <a:srgbClr val="E3F0FD"/>
      </a:lt2>
      <a:accent1>
        <a:srgbClr val="0E5DAB"/>
      </a:accent1>
      <a:accent2>
        <a:srgbClr val="7BC6DF"/>
      </a:accent2>
      <a:accent3>
        <a:srgbClr val="F99D27"/>
      </a:accent3>
      <a:accent4>
        <a:srgbClr val="BDD7EE"/>
      </a:accent4>
      <a:accent5>
        <a:srgbClr val="FFC000"/>
      </a:accent5>
      <a:accent6>
        <a:srgbClr val="A5A5A5"/>
      </a:accent6>
      <a:hlink>
        <a:srgbClr val="1F75E2"/>
      </a:hlink>
      <a:folHlink>
        <a:srgbClr val="FA34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f,kjyVUNE_28012021">
  <a:themeElements>
    <a:clrScheme name="МГТУ10128">
      <a:dk1>
        <a:srgbClr val="000000"/>
      </a:dk1>
      <a:lt1>
        <a:srgbClr val="FFFFFF"/>
      </a:lt1>
      <a:dk2>
        <a:srgbClr val="062646"/>
      </a:dk2>
      <a:lt2>
        <a:srgbClr val="E3F0FD"/>
      </a:lt2>
      <a:accent1>
        <a:srgbClr val="0E5DAB"/>
      </a:accent1>
      <a:accent2>
        <a:srgbClr val="7BC6DF"/>
      </a:accent2>
      <a:accent3>
        <a:srgbClr val="F99D27"/>
      </a:accent3>
      <a:accent4>
        <a:srgbClr val="BDD7EE"/>
      </a:accent4>
      <a:accent5>
        <a:srgbClr val="FFC000"/>
      </a:accent5>
      <a:accent6>
        <a:srgbClr val="A5A5A5"/>
      </a:accent6>
      <a:hlink>
        <a:srgbClr val="1F75E2"/>
      </a:hlink>
      <a:folHlink>
        <a:srgbClr val="FA34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Microsoft Office PowerPoint</Application>
  <PresentationFormat>Широкоэкранный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Noto Sans Symbols</vt:lpstr>
      <vt:lpstr>Arial</vt:lpstr>
      <vt:lpstr>Open Sans</vt:lpstr>
      <vt:lpstr>If,kjyVUNE_28012021</vt:lpstr>
      <vt:lpstr>If,kjyVUNE_28012021</vt:lpstr>
      <vt:lpstr>Разработка архитектуры платформы обработки и аналитики данных заказов с использованием ETL-процессов и машинного обучения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Viio Faq</cp:lastModifiedBy>
  <cp:revision>1</cp:revision>
  <dcterms:modified xsi:type="dcterms:W3CDTF">2026-10-13T07:34:08Z</dcterms:modified>
</cp:coreProperties>
</file>